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2" d="100"/>
          <a:sy n="82" d="100"/>
        </p:scale>
        <p:origin x="691"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6212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Giới thiệu đề tài: Chương 11 – Các khái niệm tương tác (Interactive Data Visualization – Ward, Grinstein, Keim).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Tương tác = Toán tử (hành động) + Toán hạng (không gian nơi hành động diễn ra). Đây là 'ngữ pháp' của tương tác.</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Bảy toán tử tương tác cốt lõi tương ứng các mục 11.1.1 – 11.1.7 của giáo trình.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Điều hướng: tìm kiếm &amp; khám phá. Lựa chọn: cô lập thực thể. Lọc: giảm tải dữ liệu.</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Tái cấu hình: đổi trục, PCA/MDS để lộ xu hướng ẩn. Mã hóa: đổi màu, kích thước, hình dạng.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Kết nối: brushing liên kết giữa nhiều khung nhìn. Khái quát/Chi tiết hóa: drill-down, roll-up và focus+context.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Sáu không gian tương tác (toán hạng): giá trị dữ liệu, cấu trúc dữ liệu, đối tượng, thuộc tính, màn hình, cấu trúc trực quan. Xếp theo thứ tự đi từ dữ liệu đến hình ảnh.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Zoom ở không gian màn hình chỉ phóng to pixel; zoom ở không gian giá trị dữ liệu lấy mẫu lại dữ liệu nên lộ chi tiết mới.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Không gian cấu trúc: thao tác trên cây/đồ thị/lưới. Không gian thuộc tính: can thiệp vào bản đồ màu, kích thước ký hiệu.</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Không gian đối tượng: biến dạng bề mặt chứa dữ liệu. Không gian cấu trúc trực quan: sửa đổi trục, lưới hiển thị (ví dụ Table Lens).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Bốn tham số điều khiển mọi tương tác: phạm vi, tiêu điểm, phép biến đổi, bộ hòa trộn.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Quy trình xử lý: nửa đầu vào xử lý dữ liệu (nguồn, truy vấn, biến dạng giá trị); nửa hiển thị xử lý hình ảnh (đối tượng, thuộc tính, màn hình, cấu trúc trực quan). Người dùng can thiệp được ở mọi giai đoạn.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Mỗi toán tử đều có chart tương ứng trong ứng dụng Streamlit + Plotly, dùng dữ liệu IBM HR Attrition (1.470 nhân viên, 35 thuộc tính).</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Kết luận: sức mạnh của trực quan hóa tương tác nằm ở việc kết hợp linh hoạt toán tử, không gian và tham số.</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08/10/2026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08/10/2026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08/10/2026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08/10/2026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08/10/2026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08/10/2026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08/10/2026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08/10/2026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08/10/2026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8760" y="0"/>
            <a:ext cx="27432"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60320" y="2240280"/>
            <a:ext cx="8961120" cy="457200"/>
          </a:xfrm>
          <a:prstGeom prst="rect">
            <a:avLst/>
          </a:prstGeom>
          <a:noFill/>
        </p:spPr>
        <p:txBody>
          <a:bodyPr wrap="square" lIns="45720" tIns="18288" rIns="45720" bIns="18288" anchor="t">
            <a:spAutoFit/>
          </a:bodyPr>
          <a:lstStyle/>
          <a:p>
            <a:pPr algn="l">
              <a:lnSpc>
                <a:spcPct val="110000"/>
              </a:lnSpc>
            </a:pPr>
            <a:r>
              <a:rPr sz="2200" b="1" i="0">
                <a:solidFill>
                  <a:srgbClr val="404040"/>
                </a:solidFill>
                <a:latin typeface="Segoe UI"/>
              </a:rPr>
              <a:t>CHƯƠNG 11</a:t>
            </a:r>
          </a:p>
        </p:txBody>
      </p:sp>
      <p:sp>
        <p:nvSpPr>
          <p:cNvPr id="4" name="TextBox 3"/>
          <p:cNvSpPr txBox="1"/>
          <p:nvPr/>
        </p:nvSpPr>
        <p:spPr>
          <a:xfrm>
            <a:off x="2560320" y="2697480"/>
            <a:ext cx="9326880" cy="1005840"/>
          </a:xfrm>
          <a:prstGeom prst="rect">
            <a:avLst/>
          </a:prstGeom>
          <a:noFill/>
        </p:spPr>
        <p:txBody>
          <a:bodyPr wrap="square" lIns="45720" tIns="18288" rIns="45720" bIns="18288" anchor="t">
            <a:spAutoFit/>
          </a:bodyPr>
          <a:lstStyle/>
          <a:p>
            <a:pPr algn="l">
              <a:lnSpc>
                <a:spcPct val="110000"/>
              </a:lnSpc>
            </a:pPr>
            <a:r>
              <a:rPr sz="4600" b="1" i="0">
                <a:solidFill>
                  <a:srgbClr val="404040"/>
                </a:solidFill>
                <a:latin typeface="Segoe UI"/>
              </a:rPr>
              <a:t>CÁC KHÁI NIỆM TƯƠNG TÁC</a:t>
            </a:r>
          </a:p>
        </p:txBody>
      </p:sp>
      <p:sp>
        <p:nvSpPr>
          <p:cNvPr id="5" name="TextBox 4"/>
          <p:cNvSpPr txBox="1"/>
          <p:nvPr/>
        </p:nvSpPr>
        <p:spPr>
          <a:xfrm>
            <a:off x="2560320" y="3703320"/>
            <a:ext cx="9326880" cy="548640"/>
          </a:xfrm>
          <a:prstGeom prst="rect">
            <a:avLst/>
          </a:prstGeom>
          <a:noFill/>
        </p:spPr>
        <p:txBody>
          <a:bodyPr wrap="square" lIns="45720" tIns="18288" rIns="45720" bIns="18288" anchor="t">
            <a:spAutoFit/>
          </a:bodyPr>
          <a:lstStyle/>
          <a:p>
            <a:pPr algn="l">
              <a:lnSpc>
                <a:spcPct val="110000"/>
              </a:lnSpc>
            </a:pPr>
            <a:r>
              <a:rPr sz="2000" b="0" i="0">
                <a:solidFill>
                  <a:srgbClr val="8A8A8A"/>
                </a:solidFill>
                <a:latin typeface="Segoe UI"/>
              </a:rPr>
              <a:t>Trực quan hóa Dữ liệu &amp; Thông tin (Interactive Data Visualization)</a:t>
            </a:r>
          </a:p>
        </p:txBody>
      </p:sp>
      <p:sp>
        <p:nvSpPr>
          <p:cNvPr id="6" name="TextBox 5"/>
          <p:cNvSpPr txBox="1"/>
          <p:nvPr/>
        </p:nvSpPr>
        <p:spPr>
          <a:xfrm>
            <a:off x="2560320" y="5074920"/>
            <a:ext cx="9144000" cy="822960"/>
          </a:xfrm>
          <a:prstGeom prst="rect">
            <a:avLst/>
          </a:prstGeom>
          <a:noFill/>
        </p:spPr>
        <p:txBody>
          <a:bodyPr wrap="square" lIns="45720" tIns="18288" rIns="45720" bIns="18288" anchor="t">
            <a:spAutoFit/>
          </a:bodyPr>
          <a:lstStyle/>
          <a:p>
            <a:pPr algn="l">
              <a:lnSpc>
                <a:spcPct val="110000"/>
              </a:lnSpc>
            </a:pPr>
            <a:r>
              <a:rPr sz="1800" b="1" i="0">
                <a:solidFill>
                  <a:srgbClr val="F97316"/>
                </a:solidFill>
                <a:latin typeface="Segoe UI"/>
              </a:rPr>
              <a:t>Nhóm 18</a:t>
            </a:r>
          </a:p>
          <a:p>
            <a:pPr algn="l">
              <a:lnSpc>
                <a:spcPct val="110000"/>
              </a:lnSpc>
            </a:pPr>
            <a:r>
              <a:rPr sz="1600" b="0" i="0">
                <a:solidFill>
                  <a:srgbClr val="404040"/>
                </a:solidFill>
                <a:latin typeface="Segoe UI"/>
              </a:rPr>
              <a:t>Chu Thành Dũng – 23001506</a:t>
            </a:r>
          </a:p>
          <a:p>
            <a:pPr algn="l">
              <a:lnSpc>
                <a:spcPct val="110000"/>
              </a:lnSpc>
            </a:pPr>
            <a:r>
              <a:rPr sz="1600" b="0" i="0">
                <a:solidFill>
                  <a:srgbClr val="404040"/>
                </a:solidFill>
                <a:latin typeface="Segoe UI"/>
              </a:rPr>
              <a:t>Đặng Phương Nam – 23001539</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tIns="18288" rIns="45720" bIns="18288" anchor="ctr">
            <a:spAutoFit/>
          </a:bodyPr>
          <a:lstStyle/>
          <a:p>
            <a:pPr algn="l">
              <a:lnSpc>
                <a:spcPct val="110000"/>
              </a:lnSpc>
            </a:pPr>
            <a:r>
              <a:rPr sz="3000" b="1" i="0">
                <a:solidFill>
                  <a:srgbClr val="404040"/>
                </a:solidFill>
                <a:latin typeface="Segoe UI"/>
              </a:rPr>
              <a:t>Ngữ pháp của Tương tác</a:t>
            </a:r>
          </a:p>
        </p:txBody>
      </p:sp>
      <p:sp>
        <p:nvSpPr>
          <p:cNvPr id="3" name="Rectangle 2"/>
          <p:cNvSpPr/>
          <p:nvPr/>
        </p:nvSpPr>
        <p:spPr>
          <a:xfrm>
            <a:off x="594360" y="1051560"/>
            <a:ext cx="82296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5486400" cy="274320"/>
          </a:xfrm>
          <a:prstGeom prst="rect">
            <a:avLst/>
          </a:prstGeom>
          <a:noFill/>
        </p:spPr>
        <p:txBody>
          <a:bodyPr wrap="square" lIns="45720" tIns="18288" rIns="45720" bIns="18288" anchor="t">
            <a:spAutoFit/>
          </a:bodyPr>
          <a:lstStyle/>
          <a:p>
            <a:pPr algn="l">
              <a:lnSpc>
                <a:spcPct val="110000"/>
              </a:lnSpc>
            </a:pPr>
            <a:r>
              <a:rPr sz="1000" b="0" i="0">
                <a:solidFill>
                  <a:srgbClr val="8A8A8A"/>
                </a:solidFill>
                <a:latin typeface="Segoe UI"/>
              </a:rPr>
              <a:t>Chương 11 – Các khái niệm tương tác  |  Nhóm 18</a:t>
            </a:r>
          </a:p>
        </p:txBody>
      </p:sp>
      <p:sp>
        <p:nvSpPr>
          <p:cNvPr id="5" name="TextBox 4"/>
          <p:cNvSpPr txBox="1"/>
          <p:nvPr/>
        </p:nvSpPr>
        <p:spPr>
          <a:xfrm>
            <a:off x="10972800" y="6446520"/>
            <a:ext cx="731520" cy="274320"/>
          </a:xfrm>
          <a:prstGeom prst="rect">
            <a:avLst/>
          </a:prstGeom>
          <a:noFill/>
        </p:spPr>
        <p:txBody>
          <a:bodyPr wrap="square" lIns="45720" tIns="18288" rIns="45720" bIns="18288" anchor="t">
            <a:spAutoFit/>
          </a:bodyPr>
          <a:lstStyle/>
          <a:p>
            <a:pPr algn="r">
              <a:lnSpc>
                <a:spcPct val="110000"/>
              </a:lnSpc>
            </a:pPr>
            <a:r>
              <a:rPr sz="1000" b="0" i="0">
                <a:solidFill>
                  <a:srgbClr val="8A8A8A"/>
                </a:solidFill>
                <a:latin typeface="Segoe UI"/>
              </a:rPr>
              <a:t>2</a:t>
            </a:r>
          </a:p>
        </p:txBody>
      </p:sp>
      <p:pic>
        <p:nvPicPr>
          <p:cNvPr id="6" name="Picture 5" descr="cursor.png"/>
          <p:cNvPicPr>
            <a:picLocks noChangeAspect="1"/>
          </p:cNvPicPr>
          <p:nvPr/>
        </p:nvPicPr>
        <p:blipFill>
          <a:blip r:embed="rId3"/>
          <a:stretch>
            <a:fillRect/>
          </a:stretch>
        </p:blipFill>
        <p:spPr>
          <a:xfrm>
            <a:off x="1463040" y="1417320"/>
            <a:ext cx="3108960" cy="2743200"/>
          </a:xfrm>
          <a:prstGeom prst="rect">
            <a:avLst/>
          </a:prstGeom>
        </p:spPr>
      </p:pic>
      <p:pic>
        <p:nvPicPr>
          <p:cNvPr id="7" name="Picture 6" descr="cube.png"/>
          <p:cNvPicPr>
            <a:picLocks noChangeAspect="1"/>
          </p:cNvPicPr>
          <p:nvPr/>
        </p:nvPicPr>
        <p:blipFill>
          <a:blip r:embed="rId4"/>
          <a:stretch>
            <a:fillRect/>
          </a:stretch>
        </p:blipFill>
        <p:spPr>
          <a:xfrm>
            <a:off x="7635240" y="1417320"/>
            <a:ext cx="3108960" cy="2743200"/>
          </a:xfrm>
          <a:prstGeom prst="rect">
            <a:avLst/>
          </a:prstGeom>
        </p:spPr>
      </p:pic>
      <p:sp>
        <p:nvSpPr>
          <p:cNvPr id="8" name="Rectangle 7"/>
          <p:cNvSpPr/>
          <p:nvPr/>
        </p:nvSpPr>
        <p:spPr>
          <a:xfrm>
            <a:off x="5897880" y="2788920"/>
            <a:ext cx="41148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053328" y="2633472"/>
            <a:ext cx="109728" cy="42062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99048" y="1463040"/>
            <a:ext cx="18288" cy="9144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99048" y="3291840"/>
            <a:ext cx="18288" cy="9144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4251960"/>
            <a:ext cx="4572000" cy="457200"/>
          </a:xfrm>
          <a:prstGeom prst="rect">
            <a:avLst/>
          </a:prstGeom>
          <a:noFill/>
        </p:spPr>
        <p:txBody>
          <a:bodyPr wrap="square" lIns="45720" tIns="18288" rIns="45720" bIns="18288" anchor="t">
            <a:spAutoFit/>
          </a:bodyPr>
          <a:lstStyle/>
          <a:p>
            <a:pPr algn="ctr">
              <a:lnSpc>
                <a:spcPct val="110000"/>
              </a:lnSpc>
            </a:pPr>
            <a:r>
              <a:rPr sz="2400" b="1" i="0">
                <a:solidFill>
                  <a:srgbClr val="404040"/>
                </a:solidFill>
                <a:latin typeface="Segoe UI"/>
              </a:rPr>
              <a:t>Toán tử (Operator)</a:t>
            </a:r>
          </a:p>
        </p:txBody>
      </p:sp>
      <p:sp>
        <p:nvSpPr>
          <p:cNvPr id="13" name="TextBox 12"/>
          <p:cNvSpPr txBox="1"/>
          <p:nvPr/>
        </p:nvSpPr>
        <p:spPr>
          <a:xfrm>
            <a:off x="822960" y="4709160"/>
            <a:ext cx="4572000" cy="365760"/>
          </a:xfrm>
          <a:prstGeom prst="rect">
            <a:avLst/>
          </a:prstGeom>
          <a:noFill/>
        </p:spPr>
        <p:txBody>
          <a:bodyPr wrap="square" lIns="45720" tIns="18288" rIns="45720" bIns="18288" anchor="t">
            <a:spAutoFit/>
          </a:bodyPr>
          <a:lstStyle/>
          <a:p>
            <a:pPr algn="ctr">
              <a:lnSpc>
                <a:spcPct val="110000"/>
              </a:lnSpc>
            </a:pPr>
            <a:r>
              <a:rPr sz="1700" b="0" i="0">
                <a:solidFill>
                  <a:srgbClr val="8A8A8A"/>
                </a:solidFill>
                <a:latin typeface="Segoe UI"/>
              </a:rPr>
              <a:t>Hành động</a:t>
            </a:r>
          </a:p>
        </p:txBody>
      </p:sp>
      <p:sp>
        <p:nvSpPr>
          <p:cNvPr id="14" name="TextBox 13"/>
          <p:cNvSpPr txBox="1"/>
          <p:nvPr/>
        </p:nvSpPr>
        <p:spPr>
          <a:xfrm>
            <a:off x="822960" y="5074920"/>
            <a:ext cx="4572000" cy="457200"/>
          </a:xfrm>
          <a:prstGeom prst="rect">
            <a:avLst/>
          </a:prstGeom>
          <a:noFill/>
        </p:spPr>
        <p:txBody>
          <a:bodyPr wrap="square" lIns="45720" tIns="18288" rIns="45720" bIns="18288" anchor="t">
            <a:spAutoFit/>
          </a:bodyPr>
          <a:lstStyle/>
          <a:p>
            <a:pPr algn="ctr">
              <a:lnSpc>
                <a:spcPct val="110000"/>
              </a:lnSpc>
            </a:pPr>
            <a:r>
              <a:rPr sz="1600" b="0" i="1">
                <a:solidFill>
                  <a:srgbClr val="404040"/>
                </a:solidFill>
                <a:latin typeface="Segoe UI"/>
              </a:rPr>
              <a:t>Những gì chúng ta làm với dữ liệu.</a:t>
            </a:r>
          </a:p>
        </p:txBody>
      </p:sp>
      <p:sp>
        <p:nvSpPr>
          <p:cNvPr id="15" name="TextBox 14"/>
          <p:cNvSpPr txBox="1"/>
          <p:nvPr/>
        </p:nvSpPr>
        <p:spPr>
          <a:xfrm>
            <a:off x="6766560" y="4251960"/>
            <a:ext cx="4572000" cy="457200"/>
          </a:xfrm>
          <a:prstGeom prst="rect">
            <a:avLst/>
          </a:prstGeom>
          <a:noFill/>
        </p:spPr>
        <p:txBody>
          <a:bodyPr wrap="square" lIns="45720" tIns="18288" rIns="45720" bIns="18288" anchor="t">
            <a:spAutoFit/>
          </a:bodyPr>
          <a:lstStyle/>
          <a:p>
            <a:pPr algn="ctr">
              <a:lnSpc>
                <a:spcPct val="110000"/>
              </a:lnSpc>
            </a:pPr>
            <a:r>
              <a:rPr sz="2400" b="1" i="0">
                <a:solidFill>
                  <a:srgbClr val="404040"/>
                </a:solidFill>
                <a:latin typeface="Segoe UI"/>
              </a:rPr>
              <a:t>Toán hạng (Operand)</a:t>
            </a:r>
          </a:p>
        </p:txBody>
      </p:sp>
      <p:sp>
        <p:nvSpPr>
          <p:cNvPr id="16" name="TextBox 15"/>
          <p:cNvSpPr txBox="1"/>
          <p:nvPr/>
        </p:nvSpPr>
        <p:spPr>
          <a:xfrm>
            <a:off x="6766560" y="4709160"/>
            <a:ext cx="4572000" cy="365760"/>
          </a:xfrm>
          <a:prstGeom prst="rect">
            <a:avLst/>
          </a:prstGeom>
          <a:noFill/>
        </p:spPr>
        <p:txBody>
          <a:bodyPr wrap="square" lIns="45720" tIns="18288" rIns="45720" bIns="18288" anchor="t">
            <a:spAutoFit/>
          </a:bodyPr>
          <a:lstStyle/>
          <a:p>
            <a:pPr algn="ctr">
              <a:lnSpc>
                <a:spcPct val="110000"/>
              </a:lnSpc>
            </a:pPr>
            <a:r>
              <a:rPr sz="1700" b="0" i="0">
                <a:solidFill>
                  <a:srgbClr val="8A8A8A"/>
                </a:solidFill>
                <a:latin typeface="Segoe UI"/>
              </a:rPr>
              <a:t>Không gian tương tác</a:t>
            </a:r>
          </a:p>
        </p:txBody>
      </p:sp>
      <p:sp>
        <p:nvSpPr>
          <p:cNvPr id="17" name="TextBox 16"/>
          <p:cNvSpPr txBox="1"/>
          <p:nvPr/>
        </p:nvSpPr>
        <p:spPr>
          <a:xfrm>
            <a:off x="6766560" y="5074920"/>
            <a:ext cx="4572000" cy="457200"/>
          </a:xfrm>
          <a:prstGeom prst="rect">
            <a:avLst/>
          </a:prstGeom>
          <a:noFill/>
        </p:spPr>
        <p:txBody>
          <a:bodyPr wrap="square" lIns="45720" tIns="18288" rIns="45720" bIns="18288" anchor="t">
            <a:spAutoFit/>
          </a:bodyPr>
          <a:lstStyle/>
          <a:p>
            <a:pPr algn="ctr">
              <a:lnSpc>
                <a:spcPct val="110000"/>
              </a:lnSpc>
            </a:pPr>
            <a:r>
              <a:rPr sz="1600" b="0" i="1">
                <a:solidFill>
                  <a:srgbClr val="404040"/>
                </a:solidFill>
                <a:latin typeface="Segoe UI"/>
              </a:rPr>
              <a:t>Nơi hành động đó diễn ra.</a:t>
            </a:r>
          </a:p>
        </p:txBody>
      </p:sp>
      <p:sp>
        <p:nvSpPr>
          <p:cNvPr id="18" name="Rectangle 17"/>
          <p:cNvSpPr/>
          <p:nvPr/>
        </p:nvSpPr>
        <p:spPr>
          <a:xfrm>
            <a:off x="822960" y="5669280"/>
            <a:ext cx="1051560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5760720"/>
            <a:ext cx="10515600" cy="640080"/>
          </a:xfrm>
          <a:prstGeom prst="rect">
            <a:avLst/>
          </a:prstGeom>
          <a:noFill/>
        </p:spPr>
        <p:txBody>
          <a:bodyPr wrap="square" lIns="45720" tIns="18288" rIns="45720" bIns="18288" anchor="ctr">
            <a:spAutoFit/>
          </a:bodyPr>
          <a:lstStyle/>
          <a:p>
            <a:pPr algn="ctr">
              <a:lnSpc>
                <a:spcPct val="110000"/>
              </a:lnSpc>
            </a:pPr>
            <a:r>
              <a:rPr sz="2200" b="1" i="0">
                <a:solidFill>
                  <a:srgbClr val="F97316"/>
                </a:solidFill>
                <a:latin typeface="Segoe UI"/>
              </a:rPr>
              <a:t>= Ngữ pháp của Tương tác  </a:t>
            </a:r>
            <a:r>
              <a:rPr sz="1600" b="0" i="1">
                <a:solidFill>
                  <a:srgbClr val="404040"/>
                </a:solidFill>
                <a:latin typeface="Segoe UI"/>
              </a:rPr>
              <a:t>Cơ chế thay đổi những gì ta thấy và cách ta thấy chúng.</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tIns="18288" rIns="45720" bIns="18288" anchor="ctr">
            <a:spAutoFit/>
          </a:bodyPr>
          <a:lstStyle/>
          <a:p>
            <a:pPr algn="l">
              <a:lnSpc>
                <a:spcPct val="110000"/>
              </a:lnSpc>
            </a:pPr>
            <a:r>
              <a:rPr sz="3000" b="1" i="0">
                <a:solidFill>
                  <a:srgbClr val="404040"/>
                </a:solidFill>
                <a:latin typeface="Segoe UI"/>
              </a:rPr>
              <a:t>7 Toán tử Tương tác Cốt lõi</a:t>
            </a:r>
          </a:p>
        </p:txBody>
      </p:sp>
      <p:sp>
        <p:nvSpPr>
          <p:cNvPr id="3" name="Rectangle 2"/>
          <p:cNvSpPr/>
          <p:nvPr/>
        </p:nvSpPr>
        <p:spPr>
          <a:xfrm>
            <a:off x="594360" y="1051560"/>
            <a:ext cx="82296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5486400" cy="274320"/>
          </a:xfrm>
          <a:prstGeom prst="rect">
            <a:avLst/>
          </a:prstGeom>
          <a:noFill/>
        </p:spPr>
        <p:txBody>
          <a:bodyPr wrap="square" lIns="45720" tIns="18288" rIns="45720" bIns="18288" anchor="t">
            <a:spAutoFit/>
          </a:bodyPr>
          <a:lstStyle/>
          <a:p>
            <a:pPr algn="l">
              <a:lnSpc>
                <a:spcPct val="110000"/>
              </a:lnSpc>
            </a:pPr>
            <a:r>
              <a:rPr sz="1000" b="0" i="0">
                <a:solidFill>
                  <a:srgbClr val="8A8A8A"/>
                </a:solidFill>
                <a:latin typeface="Segoe UI"/>
              </a:rPr>
              <a:t>Chương 11 – Các khái niệm tương tác  |  Nhóm 18</a:t>
            </a:r>
          </a:p>
        </p:txBody>
      </p:sp>
      <p:sp>
        <p:nvSpPr>
          <p:cNvPr id="5" name="TextBox 4"/>
          <p:cNvSpPr txBox="1"/>
          <p:nvPr/>
        </p:nvSpPr>
        <p:spPr>
          <a:xfrm>
            <a:off x="10972800" y="6446520"/>
            <a:ext cx="731520" cy="274320"/>
          </a:xfrm>
          <a:prstGeom prst="rect">
            <a:avLst/>
          </a:prstGeom>
          <a:noFill/>
        </p:spPr>
        <p:txBody>
          <a:bodyPr wrap="square" lIns="45720" tIns="18288" rIns="45720" bIns="18288" anchor="t">
            <a:spAutoFit/>
          </a:bodyPr>
          <a:lstStyle/>
          <a:p>
            <a:pPr algn="r">
              <a:lnSpc>
                <a:spcPct val="110000"/>
              </a:lnSpc>
            </a:pPr>
            <a:r>
              <a:rPr sz="1000" b="0" i="0">
                <a:solidFill>
                  <a:srgbClr val="8A8A8A"/>
                </a:solidFill>
                <a:latin typeface="Segoe UI"/>
              </a:rPr>
              <a:t>3</a:t>
            </a:r>
          </a:p>
        </p:txBody>
      </p:sp>
      <p:sp>
        <p:nvSpPr>
          <p:cNvPr id="6" name="Rounded Rectangle 5"/>
          <p:cNvSpPr/>
          <p:nvPr/>
        </p:nvSpPr>
        <p:spPr>
          <a:xfrm>
            <a:off x="530352" y="1737360"/>
            <a:ext cx="1481328" cy="3566160"/>
          </a:xfrm>
          <a:prstGeom prst="roundRect">
            <a:avLst>
              <a:gd name="adj" fmla="val 5000"/>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0352" y="1828800"/>
            <a:ext cx="1481328" cy="320040"/>
          </a:xfrm>
          <a:prstGeom prst="rect">
            <a:avLst/>
          </a:prstGeom>
          <a:noFill/>
        </p:spPr>
        <p:txBody>
          <a:bodyPr wrap="square" lIns="45720" tIns="18288" rIns="45720" bIns="18288" anchor="t">
            <a:spAutoFit/>
          </a:bodyPr>
          <a:lstStyle/>
          <a:p>
            <a:pPr algn="ctr">
              <a:lnSpc>
                <a:spcPct val="110000"/>
              </a:lnSpc>
            </a:pPr>
            <a:r>
              <a:rPr sz="1200" b="1" i="0">
                <a:solidFill>
                  <a:srgbClr val="F97316"/>
                </a:solidFill>
                <a:latin typeface="Segoe UI"/>
              </a:rPr>
              <a:t>11.1.1</a:t>
            </a:r>
          </a:p>
        </p:txBody>
      </p:sp>
      <p:pic>
        <p:nvPicPr>
          <p:cNvPr id="8" name="Picture 7" descr="icon_nav.png"/>
          <p:cNvPicPr>
            <a:picLocks noChangeAspect="1"/>
          </p:cNvPicPr>
          <p:nvPr/>
        </p:nvPicPr>
        <p:blipFill>
          <a:blip r:embed="rId3"/>
          <a:stretch>
            <a:fillRect/>
          </a:stretch>
        </p:blipFill>
        <p:spPr>
          <a:xfrm>
            <a:off x="804671" y="2240280"/>
            <a:ext cx="932688" cy="932688"/>
          </a:xfrm>
          <a:prstGeom prst="rect">
            <a:avLst/>
          </a:prstGeom>
        </p:spPr>
      </p:pic>
      <p:sp>
        <p:nvSpPr>
          <p:cNvPr id="9" name="TextBox 8"/>
          <p:cNvSpPr txBox="1"/>
          <p:nvPr/>
        </p:nvSpPr>
        <p:spPr>
          <a:xfrm>
            <a:off x="530352" y="3520440"/>
            <a:ext cx="1481328" cy="822960"/>
          </a:xfrm>
          <a:prstGeom prst="rect">
            <a:avLst/>
          </a:prstGeom>
          <a:noFill/>
        </p:spPr>
        <p:txBody>
          <a:bodyPr wrap="square" lIns="45720" tIns="18288" rIns="45720" bIns="18288" anchor="ctr">
            <a:spAutoFit/>
          </a:bodyPr>
          <a:lstStyle/>
          <a:p>
            <a:pPr algn="ctr">
              <a:lnSpc>
                <a:spcPct val="110000"/>
              </a:lnSpc>
            </a:pPr>
            <a:r>
              <a:rPr sz="1700" b="1" i="0">
                <a:solidFill>
                  <a:srgbClr val="404040"/>
                </a:solidFill>
                <a:latin typeface="Segoe UI"/>
              </a:rPr>
              <a:t>Điều hướng</a:t>
            </a:r>
          </a:p>
        </p:txBody>
      </p:sp>
      <p:sp>
        <p:nvSpPr>
          <p:cNvPr id="10" name="TextBox 9"/>
          <p:cNvSpPr txBox="1"/>
          <p:nvPr/>
        </p:nvSpPr>
        <p:spPr>
          <a:xfrm>
            <a:off x="530352" y="4389120"/>
            <a:ext cx="1481328" cy="731520"/>
          </a:xfrm>
          <a:prstGeom prst="rect">
            <a:avLst/>
          </a:prstGeom>
          <a:noFill/>
        </p:spPr>
        <p:txBody>
          <a:bodyPr wrap="square" lIns="45720" tIns="18288" rIns="45720" bIns="18288" anchor="t">
            <a:spAutoFit/>
          </a:bodyPr>
          <a:lstStyle/>
          <a:p>
            <a:pPr algn="ctr">
              <a:lnSpc>
                <a:spcPct val="110000"/>
              </a:lnSpc>
            </a:pPr>
            <a:r>
              <a:rPr sz="1200" b="0" i="0">
                <a:solidFill>
                  <a:srgbClr val="8A8A8A"/>
                </a:solidFill>
                <a:latin typeface="Segoe UI"/>
              </a:rPr>
              <a:t>Navigation</a:t>
            </a:r>
          </a:p>
        </p:txBody>
      </p:sp>
      <p:sp>
        <p:nvSpPr>
          <p:cNvPr id="11" name="Rounded Rectangle 10"/>
          <p:cNvSpPr/>
          <p:nvPr/>
        </p:nvSpPr>
        <p:spPr>
          <a:xfrm>
            <a:off x="2139696" y="1737360"/>
            <a:ext cx="1481328" cy="3566160"/>
          </a:xfrm>
          <a:prstGeom prst="roundRect">
            <a:avLst>
              <a:gd name="adj" fmla="val 5000"/>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39696" y="1828800"/>
            <a:ext cx="1481328" cy="320040"/>
          </a:xfrm>
          <a:prstGeom prst="rect">
            <a:avLst/>
          </a:prstGeom>
          <a:noFill/>
        </p:spPr>
        <p:txBody>
          <a:bodyPr wrap="square" lIns="45720" tIns="18288" rIns="45720" bIns="18288" anchor="t">
            <a:spAutoFit/>
          </a:bodyPr>
          <a:lstStyle/>
          <a:p>
            <a:pPr algn="ctr">
              <a:lnSpc>
                <a:spcPct val="110000"/>
              </a:lnSpc>
            </a:pPr>
            <a:r>
              <a:rPr sz="1200" b="1" i="0">
                <a:solidFill>
                  <a:srgbClr val="F97316"/>
                </a:solidFill>
                <a:latin typeface="Segoe UI"/>
              </a:rPr>
              <a:t>11.1.2</a:t>
            </a:r>
          </a:p>
        </p:txBody>
      </p:sp>
      <p:pic>
        <p:nvPicPr>
          <p:cNvPr id="13" name="Picture 12" descr="icon_sel.png"/>
          <p:cNvPicPr>
            <a:picLocks noChangeAspect="1"/>
          </p:cNvPicPr>
          <p:nvPr/>
        </p:nvPicPr>
        <p:blipFill>
          <a:blip r:embed="rId4"/>
          <a:stretch>
            <a:fillRect/>
          </a:stretch>
        </p:blipFill>
        <p:spPr>
          <a:xfrm>
            <a:off x="2414016" y="2240280"/>
            <a:ext cx="932688" cy="932688"/>
          </a:xfrm>
          <a:prstGeom prst="rect">
            <a:avLst/>
          </a:prstGeom>
        </p:spPr>
      </p:pic>
      <p:sp>
        <p:nvSpPr>
          <p:cNvPr id="14" name="TextBox 13"/>
          <p:cNvSpPr txBox="1"/>
          <p:nvPr/>
        </p:nvSpPr>
        <p:spPr>
          <a:xfrm>
            <a:off x="2139696" y="3520440"/>
            <a:ext cx="1481328" cy="822960"/>
          </a:xfrm>
          <a:prstGeom prst="rect">
            <a:avLst/>
          </a:prstGeom>
          <a:noFill/>
        </p:spPr>
        <p:txBody>
          <a:bodyPr wrap="square" lIns="45720" tIns="18288" rIns="45720" bIns="18288" anchor="ctr">
            <a:spAutoFit/>
          </a:bodyPr>
          <a:lstStyle/>
          <a:p>
            <a:pPr algn="ctr">
              <a:lnSpc>
                <a:spcPct val="110000"/>
              </a:lnSpc>
            </a:pPr>
            <a:r>
              <a:rPr sz="1700" b="1" i="0">
                <a:solidFill>
                  <a:srgbClr val="404040"/>
                </a:solidFill>
                <a:latin typeface="Segoe UI"/>
              </a:rPr>
              <a:t>Lựa chọn</a:t>
            </a:r>
          </a:p>
        </p:txBody>
      </p:sp>
      <p:sp>
        <p:nvSpPr>
          <p:cNvPr id="15" name="TextBox 14"/>
          <p:cNvSpPr txBox="1"/>
          <p:nvPr/>
        </p:nvSpPr>
        <p:spPr>
          <a:xfrm>
            <a:off x="2139696" y="4389120"/>
            <a:ext cx="1481328" cy="731520"/>
          </a:xfrm>
          <a:prstGeom prst="rect">
            <a:avLst/>
          </a:prstGeom>
          <a:noFill/>
        </p:spPr>
        <p:txBody>
          <a:bodyPr wrap="square" lIns="45720" tIns="18288" rIns="45720" bIns="18288" anchor="t">
            <a:spAutoFit/>
          </a:bodyPr>
          <a:lstStyle/>
          <a:p>
            <a:pPr algn="ctr">
              <a:lnSpc>
                <a:spcPct val="110000"/>
              </a:lnSpc>
            </a:pPr>
            <a:r>
              <a:rPr sz="1200" b="0" i="0">
                <a:solidFill>
                  <a:srgbClr val="8A8A8A"/>
                </a:solidFill>
                <a:latin typeface="Segoe UI"/>
              </a:rPr>
              <a:t>Selection</a:t>
            </a:r>
          </a:p>
        </p:txBody>
      </p:sp>
      <p:sp>
        <p:nvSpPr>
          <p:cNvPr id="16" name="Rounded Rectangle 15"/>
          <p:cNvSpPr/>
          <p:nvPr/>
        </p:nvSpPr>
        <p:spPr>
          <a:xfrm>
            <a:off x="3749040" y="1737360"/>
            <a:ext cx="1481328" cy="3566160"/>
          </a:xfrm>
          <a:prstGeom prst="roundRect">
            <a:avLst>
              <a:gd name="adj" fmla="val 5000"/>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749040" y="1828800"/>
            <a:ext cx="1481328" cy="320040"/>
          </a:xfrm>
          <a:prstGeom prst="rect">
            <a:avLst/>
          </a:prstGeom>
          <a:noFill/>
        </p:spPr>
        <p:txBody>
          <a:bodyPr wrap="square" lIns="45720" tIns="18288" rIns="45720" bIns="18288" anchor="t">
            <a:spAutoFit/>
          </a:bodyPr>
          <a:lstStyle/>
          <a:p>
            <a:pPr algn="ctr">
              <a:lnSpc>
                <a:spcPct val="110000"/>
              </a:lnSpc>
            </a:pPr>
            <a:r>
              <a:rPr sz="1200" b="1" i="0">
                <a:solidFill>
                  <a:srgbClr val="F97316"/>
                </a:solidFill>
                <a:latin typeface="Segoe UI"/>
              </a:rPr>
              <a:t>11.1.3</a:t>
            </a:r>
          </a:p>
        </p:txBody>
      </p:sp>
      <p:pic>
        <p:nvPicPr>
          <p:cNvPr id="18" name="Picture 17" descr="icon_fil.png"/>
          <p:cNvPicPr>
            <a:picLocks noChangeAspect="1"/>
          </p:cNvPicPr>
          <p:nvPr/>
        </p:nvPicPr>
        <p:blipFill>
          <a:blip r:embed="rId5"/>
          <a:stretch>
            <a:fillRect/>
          </a:stretch>
        </p:blipFill>
        <p:spPr>
          <a:xfrm>
            <a:off x="4023360" y="2240280"/>
            <a:ext cx="932688" cy="932688"/>
          </a:xfrm>
          <a:prstGeom prst="rect">
            <a:avLst/>
          </a:prstGeom>
        </p:spPr>
      </p:pic>
      <p:sp>
        <p:nvSpPr>
          <p:cNvPr id="19" name="TextBox 18"/>
          <p:cNvSpPr txBox="1"/>
          <p:nvPr/>
        </p:nvSpPr>
        <p:spPr>
          <a:xfrm>
            <a:off x="3749040" y="3520440"/>
            <a:ext cx="1481328" cy="822960"/>
          </a:xfrm>
          <a:prstGeom prst="rect">
            <a:avLst/>
          </a:prstGeom>
          <a:noFill/>
        </p:spPr>
        <p:txBody>
          <a:bodyPr wrap="square" lIns="45720" tIns="18288" rIns="45720" bIns="18288" anchor="ctr">
            <a:spAutoFit/>
          </a:bodyPr>
          <a:lstStyle/>
          <a:p>
            <a:pPr algn="ctr">
              <a:lnSpc>
                <a:spcPct val="110000"/>
              </a:lnSpc>
            </a:pPr>
            <a:r>
              <a:rPr sz="1700" b="1" i="0">
                <a:solidFill>
                  <a:srgbClr val="404040"/>
                </a:solidFill>
                <a:latin typeface="Segoe UI"/>
              </a:rPr>
              <a:t>Lọc</a:t>
            </a:r>
          </a:p>
        </p:txBody>
      </p:sp>
      <p:sp>
        <p:nvSpPr>
          <p:cNvPr id="20" name="TextBox 19"/>
          <p:cNvSpPr txBox="1"/>
          <p:nvPr/>
        </p:nvSpPr>
        <p:spPr>
          <a:xfrm>
            <a:off x="3749040" y="4389120"/>
            <a:ext cx="1481328" cy="731520"/>
          </a:xfrm>
          <a:prstGeom prst="rect">
            <a:avLst/>
          </a:prstGeom>
          <a:noFill/>
        </p:spPr>
        <p:txBody>
          <a:bodyPr wrap="square" lIns="45720" tIns="18288" rIns="45720" bIns="18288" anchor="t">
            <a:spAutoFit/>
          </a:bodyPr>
          <a:lstStyle/>
          <a:p>
            <a:pPr algn="ctr">
              <a:lnSpc>
                <a:spcPct val="110000"/>
              </a:lnSpc>
            </a:pPr>
            <a:r>
              <a:rPr sz="1200" b="0" i="0">
                <a:solidFill>
                  <a:srgbClr val="8A8A8A"/>
                </a:solidFill>
                <a:latin typeface="Segoe UI"/>
              </a:rPr>
              <a:t>Filtering</a:t>
            </a:r>
          </a:p>
        </p:txBody>
      </p:sp>
      <p:sp>
        <p:nvSpPr>
          <p:cNvPr id="21" name="Rounded Rectangle 20"/>
          <p:cNvSpPr/>
          <p:nvPr/>
        </p:nvSpPr>
        <p:spPr>
          <a:xfrm>
            <a:off x="5358384" y="1737360"/>
            <a:ext cx="1481328" cy="3566160"/>
          </a:xfrm>
          <a:prstGeom prst="roundRect">
            <a:avLst>
              <a:gd name="adj" fmla="val 5000"/>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58384" y="1828800"/>
            <a:ext cx="1481328" cy="320040"/>
          </a:xfrm>
          <a:prstGeom prst="rect">
            <a:avLst/>
          </a:prstGeom>
          <a:noFill/>
        </p:spPr>
        <p:txBody>
          <a:bodyPr wrap="square" lIns="45720" tIns="18288" rIns="45720" bIns="18288" anchor="t">
            <a:spAutoFit/>
          </a:bodyPr>
          <a:lstStyle/>
          <a:p>
            <a:pPr algn="ctr">
              <a:lnSpc>
                <a:spcPct val="110000"/>
              </a:lnSpc>
            </a:pPr>
            <a:r>
              <a:rPr sz="1200" b="1" i="0">
                <a:solidFill>
                  <a:srgbClr val="F97316"/>
                </a:solidFill>
                <a:latin typeface="Segoe UI"/>
              </a:rPr>
              <a:t>11.1.4</a:t>
            </a:r>
          </a:p>
        </p:txBody>
      </p:sp>
      <p:pic>
        <p:nvPicPr>
          <p:cNvPr id="23" name="Picture 22" descr="icon_rec.png"/>
          <p:cNvPicPr>
            <a:picLocks noChangeAspect="1"/>
          </p:cNvPicPr>
          <p:nvPr/>
        </p:nvPicPr>
        <p:blipFill>
          <a:blip r:embed="rId6"/>
          <a:stretch>
            <a:fillRect/>
          </a:stretch>
        </p:blipFill>
        <p:spPr>
          <a:xfrm>
            <a:off x="5632704" y="2240280"/>
            <a:ext cx="932688" cy="932688"/>
          </a:xfrm>
          <a:prstGeom prst="rect">
            <a:avLst/>
          </a:prstGeom>
        </p:spPr>
      </p:pic>
      <p:sp>
        <p:nvSpPr>
          <p:cNvPr id="24" name="TextBox 23"/>
          <p:cNvSpPr txBox="1"/>
          <p:nvPr/>
        </p:nvSpPr>
        <p:spPr>
          <a:xfrm>
            <a:off x="5358384" y="3520440"/>
            <a:ext cx="1481328" cy="822960"/>
          </a:xfrm>
          <a:prstGeom prst="rect">
            <a:avLst/>
          </a:prstGeom>
          <a:noFill/>
        </p:spPr>
        <p:txBody>
          <a:bodyPr wrap="square" lIns="45720" tIns="18288" rIns="45720" bIns="18288" anchor="ctr">
            <a:spAutoFit/>
          </a:bodyPr>
          <a:lstStyle/>
          <a:p>
            <a:pPr algn="ctr">
              <a:lnSpc>
                <a:spcPct val="110000"/>
              </a:lnSpc>
            </a:pPr>
            <a:r>
              <a:rPr sz="1700" b="1" i="0">
                <a:solidFill>
                  <a:srgbClr val="404040"/>
                </a:solidFill>
                <a:latin typeface="Segoe UI"/>
              </a:rPr>
              <a:t>Tái cấu hình</a:t>
            </a:r>
          </a:p>
        </p:txBody>
      </p:sp>
      <p:sp>
        <p:nvSpPr>
          <p:cNvPr id="25" name="TextBox 24"/>
          <p:cNvSpPr txBox="1"/>
          <p:nvPr/>
        </p:nvSpPr>
        <p:spPr>
          <a:xfrm>
            <a:off x="5358384" y="4389120"/>
            <a:ext cx="1481328" cy="731520"/>
          </a:xfrm>
          <a:prstGeom prst="rect">
            <a:avLst/>
          </a:prstGeom>
          <a:noFill/>
        </p:spPr>
        <p:txBody>
          <a:bodyPr wrap="square" lIns="45720" tIns="18288" rIns="45720" bIns="18288" anchor="t">
            <a:spAutoFit/>
          </a:bodyPr>
          <a:lstStyle/>
          <a:p>
            <a:pPr algn="ctr">
              <a:lnSpc>
                <a:spcPct val="110000"/>
              </a:lnSpc>
            </a:pPr>
            <a:r>
              <a:rPr sz="1200" b="0" i="0">
                <a:solidFill>
                  <a:srgbClr val="8A8A8A"/>
                </a:solidFill>
                <a:latin typeface="Segoe UI"/>
              </a:rPr>
              <a:t>Reconfiguring</a:t>
            </a:r>
          </a:p>
        </p:txBody>
      </p:sp>
      <p:sp>
        <p:nvSpPr>
          <p:cNvPr id="26" name="Rounded Rectangle 25"/>
          <p:cNvSpPr/>
          <p:nvPr/>
        </p:nvSpPr>
        <p:spPr>
          <a:xfrm>
            <a:off x="6967728" y="1737360"/>
            <a:ext cx="1481328" cy="3566160"/>
          </a:xfrm>
          <a:prstGeom prst="roundRect">
            <a:avLst>
              <a:gd name="adj" fmla="val 5000"/>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67728" y="1828800"/>
            <a:ext cx="1481328" cy="320040"/>
          </a:xfrm>
          <a:prstGeom prst="rect">
            <a:avLst/>
          </a:prstGeom>
          <a:noFill/>
        </p:spPr>
        <p:txBody>
          <a:bodyPr wrap="square" lIns="45720" tIns="18288" rIns="45720" bIns="18288" anchor="t">
            <a:spAutoFit/>
          </a:bodyPr>
          <a:lstStyle/>
          <a:p>
            <a:pPr algn="ctr">
              <a:lnSpc>
                <a:spcPct val="110000"/>
              </a:lnSpc>
            </a:pPr>
            <a:r>
              <a:rPr sz="1200" b="1" i="0">
                <a:solidFill>
                  <a:srgbClr val="F97316"/>
                </a:solidFill>
                <a:latin typeface="Segoe UI"/>
              </a:rPr>
              <a:t>11.1.5</a:t>
            </a:r>
          </a:p>
        </p:txBody>
      </p:sp>
      <p:pic>
        <p:nvPicPr>
          <p:cNvPr id="28" name="Picture 27" descr="icon_enc.png"/>
          <p:cNvPicPr>
            <a:picLocks noChangeAspect="1"/>
          </p:cNvPicPr>
          <p:nvPr/>
        </p:nvPicPr>
        <p:blipFill>
          <a:blip r:embed="rId7"/>
          <a:stretch>
            <a:fillRect/>
          </a:stretch>
        </p:blipFill>
        <p:spPr>
          <a:xfrm>
            <a:off x="7242048" y="2240280"/>
            <a:ext cx="932688" cy="932688"/>
          </a:xfrm>
          <a:prstGeom prst="rect">
            <a:avLst/>
          </a:prstGeom>
        </p:spPr>
      </p:pic>
      <p:sp>
        <p:nvSpPr>
          <p:cNvPr id="29" name="TextBox 28"/>
          <p:cNvSpPr txBox="1"/>
          <p:nvPr/>
        </p:nvSpPr>
        <p:spPr>
          <a:xfrm>
            <a:off x="6967728" y="3520440"/>
            <a:ext cx="1481328" cy="822960"/>
          </a:xfrm>
          <a:prstGeom prst="rect">
            <a:avLst/>
          </a:prstGeom>
          <a:noFill/>
        </p:spPr>
        <p:txBody>
          <a:bodyPr wrap="square" lIns="45720" tIns="18288" rIns="45720" bIns="18288" anchor="ctr">
            <a:spAutoFit/>
          </a:bodyPr>
          <a:lstStyle/>
          <a:p>
            <a:pPr algn="ctr">
              <a:lnSpc>
                <a:spcPct val="110000"/>
              </a:lnSpc>
            </a:pPr>
            <a:r>
              <a:rPr sz="1700" b="1" i="0">
                <a:solidFill>
                  <a:srgbClr val="404040"/>
                </a:solidFill>
                <a:latin typeface="Segoe UI"/>
              </a:rPr>
              <a:t>Mã hóa</a:t>
            </a:r>
          </a:p>
        </p:txBody>
      </p:sp>
      <p:sp>
        <p:nvSpPr>
          <p:cNvPr id="30" name="TextBox 29"/>
          <p:cNvSpPr txBox="1"/>
          <p:nvPr/>
        </p:nvSpPr>
        <p:spPr>
          <a:xfrm>
            <a:off x="6967728" y="4389120"/>
            <a:ext cx="1481328" cy="731520"/>
          </a:xfrm>
          <a:prstGeom prst="rect">
            <a:avLst/>
          </a:prstGeom>
          <a:noFill/>
        </p:spPr>
        <p:txBody>
          <a:bodyPr wrap="square" lIns="45720" tIns="18288" rIns="45720" bIns="18288" anchor="t">
            <a:spAutoFit/>
          </a:bodyPr>
          <a:lstStyle/>
          <a:p>
            <a:pPr algn="ctr">
              <a:lnSpc>
                <a:spcPct val="110000"/>
              </a:lnSpc>
            </a:pPr>
            <a:r>
              <a:rPr sz="1200" b="0" i="0">
                <a:solidFill>
                  <a:srgbClr val="8A8A8A"/>
                </a:solidFill>
                <a:latin typeface="Segoe UI"/>
              </a:rPr>
              <a:t>Encoding</a:t>
            </a:r>
          </a:p>
        </p:txBody>
      </p:sp>
      <p:sp>
        <p:nvSpPr>
          <p:cNvPr id="31" name="Rounded Rectangle 30"/>
          <p:cNvSpPr/>
          <p:nvPr/>
        </p:nvSpPr>
        <p:spPr>
          <a:xfrm>
            <a:off x="8577072" y="1737360"/>
            <a:ext cx="1481328" cy="3566160"/>
          </a:xfrm>
          <a:prstGeom prst="roundRect">
            <a:avLst>
              <a:gd name="adj" fmla="val 5000"/>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577072" y="1828800"/>
            <a:ext cx="1481328" cy="320040"/>
          </a:xfrm>
          <a:prstGeom prst="rect">
            <a:avLst/>
          </a:prstGeom>
          <a:noFill/>
        </p:spPr>
        <p:txBody>
          <a:bodyPr wrap="square" lIns="45720" tIns="18288" rIns="45720" bIns="18288" anchor="t">
            <a:spAutoFit/>
          </a:bodyPr>
          <a:lstStyle/>
          <a:p>
            <a:pPr algn="ctr">
              <a:lnSpc>
                <a:spcPct val="110000"/>
              </a:lnSpc>
            </a:pPr>
            <a:r>
              <a:rPr sz="1200" b="1" i="0">
                <a:solidFill>
                  <a:srgbClr val="F97316"/>
                </a:solidFill>
                <a:latin typeface="Segoe UI"/>
              </a:rPr>
              <a:t>11.1.6</a:t>
            </a:r>
          </a:p>
        </p:txBody>
      </p:sp>
      <p:pic>
        <p:nvPicPr>
          <p:cNvPr id="33" name="Picture 32" descr="icon_con.png"/>
          <p:cNvPicPr>
            <a:picLocks noChangeAspect="1"/>
          </p:cNvPicPr>
          <p:nvPr/>
        </p:nvPicPr>
        <p:blipFill>
          <a:blip r:embed="rId8"/>
          <a:stretch>
            <a:fillRect/>
          </a:stretch>
        </p:blipFill>
        <p:spPr>
          <a:xfrm>
            <a:off x="8851392" y="2240280"/>
            <a:ext cx="932688" cy="932688"/>
          </a:xfrm>
          <a:prstGeom prst="rect">
            <a:avLst/>
          </a:prstGeom>
        </p:spPr>
      </p:pic>
      <p:sp>
        <p:nvSpPr>
          <p:cNvPr id="34" name="TextBox 33"/>
          <p:cNvSpPr txBox="1"/>
          <p:nvPr/>
        </p:nvSpPr>
        <p:spPr>
          <a:xfrm>
            <a:off x="8577072" y="3520440"/>
            <a:ext cx="1481328" cy="822960"/>
          </a:xfrm>
          <a:prstGeom prst="rect">
            <a:avLst/>
          </a:prstGeom>
          <a:noFill/>
        </p:spPr>
        <p:txBody>
          <a:bodyPr wrap="square" lIns="45720" tIns="18288" rIns="45720" bIns="18288" anchor="ctr">
            <a:spAutoFit/>
          </a:bodyPr>
          <a:lstStyle/>
          <a:p>
            <a:pPr algn="ctr">
              <a:lnSpc>
                <a:spcPct val="110000"/>
              </a:lnSpc>
            </a:pPr>
            <a:r>
              <a:rPr sz="1700" b="1" i="0">
                <a:solidFill>
                  <a:srgbClr val="404040"/>
                </a:solidFill>
                <a:latin typeface="Segoe UI"/>
              </a:rPr>
              <a:t>Kết nối</a:t>
            </a:r>
          </a:p>
        </p:txBody>
      </p:sp>
      <p:sp>
        <p:nvSpPr>
          <p:cNvPr id="35" name="TextBox 34"/>
          <p:cNvSpPr txBox="1"/>
          <p:nvPr/>
        </p:nvSpPr>
        <p:spPr>
          <a:xfrm>
            <a:off x="8577072" y="4389120"/>
            <a:ext cx="1481328" cy="731520"/>
          </a:xfrm>
          <a:prstGeom prst="rect">
            <a:avLst/>
          </a:prstGeom>
          <a:noFill/>
        </p:spPr>
        <p:txBody>
          <a:bodyPr wrap="square" lIns="45720" tIns="18288" rIns="45720" bIns="18288" anchor="t">
            <a:spAutoFit/>
          </a:bodyPr>
          <a:lstStyle/>
          <a:p>
            <a:pPr algn="ctr">
              <a:lnSpc>
                <a:spcPct val="110000"/>
              </a:lnSpc>
            </a:pPr>
            <a:r>
              <a:rPr sz="1200" b="0" i="0">
                <a:solidFill>
                  <a:srgbClr val="8A8A8A"/>
                </a:solidFill>
                <a:latin typeface="Segoe UI"/>
              </a:rPr>
              <a:t>Connecting</a:t>
            </a:r>
          </a:p>
        </p:txBody>
      </p:sp>
      <p:sp>
        <p:nvSpPr>
          <p:cNvPr id="36" name="Rounded Rectangle 35"/>
          <p:cNvSpPr/>
          <p:nvPr/>
        </p:nvSpPr>
        <p:spPr>
          <a:xfrm>
            <a:off x="10186416" y="1737360"/>
            <a:ext cx="1481328" cy="3566160"/>
          </a:xfrm>
          <a:prstGeom prst="roundRect">
            <a:avLst>
              <a:gd name="adj" fmla="val 5000"/>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186416" y="1828800"/>
            <a:ext cx="1481328" cy="320040"/>
          </a:xfrm>
          <a:prstGeom prst="rect">
            <a:avLst/>
          </a:prstGeom>
          <a:noFill/>
        </p:spPr>
        <p:txBody>
          <a:bodyPr wrap="square" lIns="45720" tIns="18288" rIns="45720" bIns="18288" anchor="t">
            <a:spAutoFit/>
          </a:bodyPr>
          <a:lstStyle/>
          <a:p>
            <a:pPr algn="ctr">
              <a:lnSpc>
                <a:spcPct val="110000"/>
              </a:lnSpc>
            </a:pPr>
            <a:r>
              <a:rPr sz="1200" b="1" i="0">
                <a:solidFill>
                  <a:srgbClr val="F97316"/>
                </a:solidFill>
                <a:latin typeface="Segoe UI"/>
              </a:rPr>
              <a:t>11.1.7</a:t>
            </a:r>
          </a:p>
        </p:txBody>
      </p:sp>
      <p:pic>
        <p:nvPicPr>
          <p:cNvPr id="38" name="Picture 37" descr="icon_abs.png"/>
          <p:cNvPicPr>
            <a:picLocks noChangeAspect="1"/>
          </p:cNvPicPr>
          <p:nvPr/>
        </p:nvPicPr>
        <p:blipFill>
          <a:blip r:embed="rId9"/>
          <a:stretch>
            <a:fillRect/>
          </a:stretch>
        </p:blipFill>
        <p:spPr>
          <a:xfrm>
            <a:off x="10460736" y="2240280"/>
            <a:ext cx="932688" cy="932688"/>
          </a:xfrm>
          <a:prstGeom prst="rect">
            <a:avLst/>
          </a:prstGeom>
        </p:spPr>
      </p:pic>
      <p:sp>
        <p:nvSpPr>
          <p:cNvPr id="39" name="TextBox 38"/>
          <p:cNvSpPr txBox="1"/>
          <p:nvPr/>
        </p:nvSpPr>
        <p:spPr>
          <a:xfrm>
            <a:off x="10186416" y="3520440"/>
            <a:ext cx="1481328" cy="822960"/>
          </a:xfrm>
          <a:prstGeom prst="rect">
            <a:avLst/>
          </a:prstGeom>
          <a:noFill/>
        </p:spPr>
        <p:txBody>
          <a:bodyPr wrap="square" lIns="45720" tIns="18288" rIns="45720" bIns="18288" anchor="ctr">
            <a:spAutoFit/>
          </a:bodyPr>
          <a:lstStyle/>
          <a:p>
            <a:pPr algn="ctr">
              <a:lnSpc>
                <a:spcPct val="110000"/>
              </a:lnSpc>
            </a:pPr>
            <a:r>
              <a:rPr sz="1700" b="1" i="0">
                <a:solidFill>
                  <a:srgbClr val="404040"/>
                </a:solidFill>
                <a:latin typeface="Segoe UI"/>
              </a:rPr>
              <a:t>Khái quát /
Chi tiết hóa</a:t>
            </a:r>
          </a:p>
        </p:txBody>
      </p:sp>
      <p:sp>
        <p:nvSpPr>
          <p:cNvPr id="40" name="TextBox 39"/>
          <p:cNvSpPr txBox="1"/>
          <p:nvPr/>
        </p:nvSpPr>
        <p:spPr>
          <a:xfrm>
            <a:off x="10186416" y="4389120"/>
            <a:ext cx="1481328" cy="731520"/>
          </a:xfrm>
          <a:prstGeom prst="rect">
            <a:avLst/>
          </a:prstGeom>
          <a:noFill/>
        </p:spPr>
        <p:txBody>
          <a:bodyPr wrap="square" lIns="45720" tIns="18288" rIns="45720" bIns="18288" anchor="t">
            <a:spAutoFit/>
          </a:bodyPr>
          <a:lstStyle/>
          <a:p>
            <a:pPr algn="ctr">
              <a:lnSpc>
                <a:spcPct val="110000"/>
              </a:lnSpc>
            </a:pPr>
            <a:r>
              <a:rPr sz="1200" b="0" i="0">
                <a:solidFill>
                  <a:srgbClr val="8A8A8A"/>
                </a:solidFill>
                <a:latin typeface="Segoe UI"/>
              </a:rPr>
              <a:t>Abstract / Elaborate</a:t>
            </a:r>
          </a:p>
        </p:txBody>
      </p:sp>
      <p:sp>
        <p:nvSpPr>
          <p:cNvPr id="41" name="TextBox 40"/>
          <p:cNvSpPr txBox="1"/>
          <p:nvPr/>
        </p:nvSpPr>
        <p:spPr>
          <a:xfrm>
            <a:off x="548640" y="5623560"/>
            <a:ext cx="11064240" cy="457200"/>
          </a:xfrm>
          <a:prstGeom prst="rect">
            <a:avLst/>
          </a:prstGeom>
          <a:noFill/>
        </p:spPr>
        <p:txBody>
          <a:bodyPr wrap="square" lIns="45720" tIns="18288" rIns="45720" bIns="18288" anchor="t">
            <a:spAutoFit/>
          </a:bodyPr>
          <a:lstStyle/>
          <a:p>
            <a:pPr algn="ctr">
              <a:lnSpc>
                <a:spcPct val="110000"/>
              </a:lnSpc>
            </a:pPr>
            <a:r>
              <a:rPr sz="1400" b="0" i="1">
                <a:solidFill>
                  <a:srgbClr val="8A8A8A"/>
                </a:solidFill>
                <a:latin typeface="Segoe UI"/>
              </a:rPr>
              <a:t>Mỗi toán tử trả lời một câu hỏi khác nhau: xem ở đâu? chọn gì? bỏ gì? sắp xếp ra sao? biểu diễn thế nào? liên hệ nhau ra sao? chi tiết đến mức nào?</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tIns="18288" rIns="45720" bIns="18288" anchor="ctr">
            <a:spAutoFit/>
          </a:bodyPr>
          <a:lstStyle/>
          <a:p>
            <a:pPr algn="l">
              <a:lnSpc>
                <a:spcPct val="110000"/>
              </a:lnSpc>
            </a:pPr>
            <a:r>
              <a:rPr sz="3000" b="1" i="0">
                <a:solidFill>
                  <a:srgbClr val="404040"/>
                </a:solidFill>
                <a:latin typeface="Segoe UI"/>
              </a:rPr>
              <a:t>Nhóm 1: Tìm kiếm, Cô lập &amp; Giảm tải</a:t>
            </a:r>
          </a:p>
        </p:txBody>
      </p:sp>
      <p:sp>
        <p:nvSpPr>
          <p:cNvPr id="3" name="Rectangle 2"/>
          <p:cNvSpPr/>
          <p:nvPr/>
        </p:nvSpPr>
        <p:spPr>
          <a:xfrm>
            <a:off x="594360" y="1051560"/>
            <a:ext cx="82296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5486400" cy="274320"/>
          </a:xfrm>
          <a:prstGeom prst="rect">
            <a:avLst/>
          </a:prstGeom>
          <a:noFill/>
        </p:spPr>
        <p:txBody>
          <a:bodyPr wrap="square" lIns="45720" tIns="18288" rIns="45720" bIns="18288" anchor="t">
            <a:spAutoFit/>
          </a:bodyPr>
          <a:lstStyle/>
          <a:p>
            <a:pPr algn="l">
              <a:lnSpc>
                <a:spcPct val="110000"/>
              </a:lnSpc>
            </a:pPr>
            <a:r>
              <a:rPr sz="1000" b="0" i="0">
                <a:solidFill>
                  <a:srgbClr val="8A8A8A"/>
                </a:solidFill>
                <a:latin typeface="Segoe UI"/>
              </a:rPr>
              <a:t>Chương 11 – Các khái niệm tương tác  |  Nhóm 18</a:t>
            </a:r>
          </a:p>
        </p:txBody>
      </p:sp>
      <p:sp>
        <p:nvSpPr>
          <p:cNvPr id="5" name="TextBox 4"/>
          <p:cNvSpPr txBox="1"/>
          <p:nvPr/>
        </p:nvSpPr>
        <p:spPr>
          <a:xfrm>
            <a:off x="10972800" y="6446520"/>
            <a:ext cx="731520" cy="274320"/>
          </a:xfrm>
          <a:prstGeom prst="rect">
            <a:avLst/>
          </a:prstGeom>
          <a:noFill/>
        </p:spPr>
        <p:txBody>
          <a:bodyPr wrap="square" lIns="45720" tIns="18288" rIns="45720" bIns="18288" anchor="t">
            <a:spAutoFit/>
          </a:bodyPr>
          <a:lstStyle/>
          <a:p>
            <a:pPr algn="r">
              <a:lnSpc>
                <a:spcPct val="110000"/>
              </a:lnSpc>
            </a:pPr>
            <a:r>
              <a:rPr sz="1000" b="0" i="0">
                <a:solidFill>
                  <a:srgbClr val="8A8A8A"/>
                </a:solidFill>
                <a:latin typeface="Segoe UI"/>
              </a:rPr>
              <a:t>4</a:t>
            </a:r>
          </a:p>
        </p:txBody>
      </p:sp>
      <p:sp>
        <p:nvSpPr>
          <p:cNvPr id="6" name="TextBox 5"/>
          <p:cNvSpPr txBox="1"/>
          <p:nvPr/>
        </p:nvSpPr>
        <p:spPr>
          <a:xfrm>
            <a:off x="548640" y="1325880"/>
            <a:ext cx="3566160" cy="457200"/>
          </a:xfrm>
          <a:prstGeom prst="rect">
            <a:avLst/>
          </a:prstGeom>
          <a:noFill/>
        </p:spPr>
        <p:txBody>
          <a:bodyPr wrap="square" lIns="45720" tIns="18288" rIns="45720" bIns="18288" anchor="t">
            <a:spAutoFit/>
          </a:bodyPr>
          <a:lstStyle/>
          <a:p>
            <a:pPr algn="ctr">
              <a:lnSpc>
                <a:spcPct val="110000"/>
              </a:lnSpc>
            </a:pPr>
            <a:r>
              <a:rPr sz="2100" b="1" i="0">
                <a:solidFill>
                  <a:srgbClr val="404040"/>
                </a:solidFill>
                <a:latin typeface="Segoe UI"/>
              </a:rPr>
              <a:t>Điều hướng</a:t>
            </a:r>
          </a:p>
        </p:txBody>
      </p:sp>
      <p:sp>
        <p:nvSpPr>
          <p:cNvPr id="7" name="TextBox 6"/>
          <p:cNvSpPr txBox="1"/>
          <p:nvPr/>
        </p:nvSpPr>
        <p:spPr>
          <a:xfrm>
            <a:off x="548640" y="1737360"/>
            <a:ext cx="3566160" cy="365760"/>
          </a:xfrm>
          <a:prstGeom prst="rect">
            <a:avLst/>
          </a:prstGeom>
          <a:noFill/>
        </p:spPr>
        <p:txBody>
          <a:bodyPr wrap="square" lIns="45720" tIns="18288" rIns="45720" bIns="18288" anchor="t">
            <a:spAutoFit/>
          </a:bodyPr>
          <a:lstStyle/>
          <a:p>
            <a:pPr algn="ctr">
              <a:lnSpc>
                <a:spcPct val="110000"/>
              </a:lnSpc>
            </a:pPr>
            <a:r>
              <a:rPr sz="1500" b="0" i="0">
                <a:solidFill>
                  <a:srgbClr val="8A8A8A"/>
                </a:solidFill>
                <a:latin typeface="Segoe UI"/>
              </a:rPr>
              <a:t>(Tìm kiếm &amp; Khám phá)</a:t>
            </a:r>
          </a:p>
        </p:txBody>
      </p:sp>
      <p:pic>
        <p:nvPicPr>
          <p:cNvPr id="8" name="Picture 7" descr="ill_nav.png"/>
          <p:cNvPicPr>
            <a:picLocks noChangeAspect="1"/>
          </p:cNvPicPr>
          <p:nvPr/>
        </p:nvPicPr>
        <p:blipFill>
          <a:blip r:embed="rId3"/>
          <a:stretch>
            <a:fillRect/>
          </a:stretch>
        </p:blipFill>
        <p:spPr>
          <a:xfrm>
            <a:off x="777240" y="2240280"/>
            <a:ext cx="3108960" cy="2331720"/>
          </a:xfrm>
          <a:prstGeom prst="rect">
            <a:avLst/>
          </a:prstGeom>
        </p:spPr>
      </p:pic>
      <p:sp>
        <p:nvSpPr>
          <p:cNvPr id="9" name="TextBox 8"/>
          <p:cNvSpPr txBox="1"/>
          <p:nvPr/>
        </p:nvSpPr>
        <p:spPr>
          <a:xfrm>
            <a:off x="548640" y="4754880"/>
            <a:ext cx="3566160" cy="1554480"/>
          </a:xfrm>
          <a:prstGeom prst="rect">
            <a:avLst/>
          </a:prstGeom>
          <a:noFill/>
        </p:spPr>
        <p:txBody>
          <a:bodyPr wrap="square" lIns="45720" tIns="18288" rIns="45720" bIns="18288" anchor="t">
            <a:spAutoFit/>
          </a:bodyPr>
          <a:lstStyle/>
          <a:p>
            <a:pPr algn="ctr">
              <a:lnSpc>
                <a:spcPct val="110000"/>
              </a:lnSpc>
            </a:pPr>
            <a:r>
              <a:rPr sz="1500" b="0" i="0">
                <a:solidFill>
                  <a:srgbClr val="404040"/>
                </a:solidFill>
                <a:latin typeface="Segoe UI"/>
              </a:rPr>
              <a:t>Định vị tập con dữ liệu cần xem: thay đổi vị trí, hướng nhìn và mức độ chi tiết (LOD) bằng pan, zoom, xoay.</a:t>
            </a:r>
          </a:p>
        </p:txBody>
      </p:sp>
      <p:sp>
        <p:nvSpPr>
          <p:cNvPr id="10" name="TextBox 9"/>
          <p:cNvSpPr txBox="1"/>
          <p:nvPr/>
        </p:nvSpPr>
        <p:spPr>
          <a:xfrm>
            <a:off x="4315968" y="1325880"/>
            <a:ext cx="3566160" cy="457200"/>
          </a:xfrm>
          <a:prstGeom prst="rect">
            <a:avLst/>
          </a:prstGeom>
          <a:noFill/>
        </p:spPr>
        <p:txBody>
          <a:bodyPr wrap="square" lIns="45720" tIns="18288" rIns="45720" bIns="18288" anchor="t">
            <a:spAutoFit/>
          </a:bodyPr>
          <a:lstStyle/>
          <a:p>
            <a:pPr algn="ctr">
              <a:lnSpc>
                <a:spcPct val="110000"/>
              </a:lnSpc>
            </a:pPr>
            <a:r>
              <a:rPr sz="2100" b="1" i="0">
                <a:solidFill>
                  <a:srgbClr val="404040"/>
                </a:solidFill>
                <a:latin typeface="Segoe UI"/>
              </a:rPr>
              <a:t>Lựa chọn</a:t>
            </a:r>
          </a:p>
        </p:txBody>
      </p:sp>
      <p:sp>
        <p:nvSpPr>
          <p:cNvPr id="11" name="TextBox 10"/>
          <p:cNvSpPr txBox="1"/>
          <p:nvPr/>
        </p:nvSpPr>
        <p:spPr>
          <a:xfrm>
            <a:off x="4315968" y="1737360"/>
            <a:ext cx="3566160" cy="365760"/>
          </a:xfrm>
          <a:prstGeom prst="rect">
            <a:avLst/>
          </a:prstGeom>
          <a:noFill/>
        </p:spPr>
        <p:txBody>
          <a:bodyPr wrap="square" lIns="45720" tIns="18288" rIns="45720" bIns="18288" anchor="t">
            <a:spAutoFit/>
          </a:bodyPr>
          <a:lstStyle/>
          <a:p>
            <a:pPr algn="ctr">
              <a:lnSpc>
                <a:spcPct val="110000"/>
              </a:lnSpc>
            </a:pPr>
            <a:r>
              <a:rPr sz="1500" b="0" i="0">
                <a:solidFill>
                  <a:srgbClr val="8A8A8A"/>
                </a:solidFill>
                <a:latin typeface="Segoe UI"/>
              </a:rPr>
              <a:t>(Cô lập thực thể)</a:t>
            </a:r>
          </a:p>
        </p:txBody>
      </p:sp>
      <p:pic>
        <p:nvPicPr>
          <p:cNvPr id="12" name="Picture 11" descr="ill_sel.png"/>
          <p:cNvPicPr>
            <a:picLocks noChangeAspect="1"/>
          </p:cNvPicPr>
          <p:nvPr/>
        </p:nvPicPr>
        <p:blipFill>
          <a:blip r:embed="rId4"/>
          <a:stretch>
            <a:fillRect/>
          </a:stretch>
        </p:blipFill>
        <p:spPr>
          <a:xfrm>
            <a:off x="4544568" y="2240280"/>
            <a:ext cx="3108960" cy="2331720"/>
          </a:xfrm>
          <a:prstGeom prst="rect">
            <a:avLst/>
          </a:prstGeom>
        </p:spPr>
      </p:pic>
      <p:sp>
        <p:nvSpPr>
          <p:cNvPr id="13" name="TextBox 12"/>
          <p:cNvSpPr txBox="1"/>
          <p:nvPr/>
        </p:nvSpPr>
        <p:spPr>
          <a:xfrm>
            <a:off x="4315968" y="4754880"/>
            <a:ext cx="3566160" cy="1554480"/>
          </a:xfrm>
          <a:prstGeom prst="rect">
            <a:avLst/>
          </a:prstGeom>
          <a:noFill/>
        </p:spPr>
        <p:txBody>
          <a:bodyPr wrap="square" lIns="45720" tIns="18288" rIns="45720" bIns="18288" anchor="t">
            <a:spAutoFit/>
          </a:bodyPr>
          <a:lstStyle/>
          <a:p>
            <a:pPr algn="ctr">
              <a:lnSpc>
                <a:spcPct val="110000"/>
              </a:lnSpc>
            </a:pPr>
            <a:r>
              <a:rPr sz="1500" b="0" i="0">
                <a:solidFill>
                  <a:srgbClr val="404040"/>
                </a:solidFill>
                <a:latin typeface="Segoe UI"/>
              </a:rPr>
              <a:t>Xác định vùng quan tâm (click, hộp bao, lasso, brushing) để làm nổi bật hoặc xử lý tiếp. Phần không chọn mờ đi để giữ ngữ cảnh.</a:t>
            </a:r>
          </a:p>
        </p:txBody>
      </p:sp>
      <p:sp>
        <p:nvSpPr>
          <p:cNvPr id="14" name="TextBox 13"/>
          <p:cNvSpPr txBox="1"/>
          <p:nvPr/>
        </p:nvSpPr>
        <p:spPr>
          <a:xfrm>
            <a:off x="8083296" y="1325880"/>
            <a:ext cx="3566160" cy="457200"/>
          </a:xfrm>
          <a:prstGeom prst="rect">
            <a:avLst/>
          </a:prstGeom>
          <a:noFill/>
        </p:spPr>
        <p:txBody>
          <a:bodyPr wrap="square" lIns="45720" tIns="18288" rIns="45720" bIns="18288" anchor="t">
            <a:spAutoFit/>
          </a:bodyPr>
          <a:lstStyle/>
          <a:p>
            <a:pPr algn="ctr">
              <a:lnSpc>
                <a:spcPct val="110000"/>
              </a:lnSpc>
            </a:pPr>
            <a:r>
              <a:rPr sz="2100" b="1" i="0">
                <a:solidFill>
                  <a:srgbClr val="404040"/>
                </a:solidFill>
                <a:latin typeface="Segoe UI"/>
              </a:rPr>
              <a:t>Lọc</a:t>
            </a:r>
          </a:p>
        </p:txBody>
      </p:sp>
      <p:sp>
        <p:nvSpPr>
          <p:cNvPr id="15" name="TextBox 14"/>
          <p:cNvSpPr txBox="1"/>
          <p:nvPr/>
        </p:nvSpPr>
        <p:spPr>
          <a:xfrm>
            <a:off x="8083296" y="1737360"/>
            <a:ext cx="3566160" cy="365760"/>
          </a:xfrm>
          <a:prstGeom prst="rect">
            <a:avLst/>
          </a:prstGeom>
          <a:noFill/>
        </p:spPr>
        <p:txBody>
          <a:bodyPr wrap="square" lIns="45720" tIns="18288" rIns="45720" bIns="18288" anchor="t">
            <a:spAutoFit/>
          </a:bodyPr>
          <a:lstStyle/>
          <a:p>
            <a:pPr algn="ctr">
              <a:lnSpc>
                <a:spcPct val="110000"/>
              </a:lnSpc>
            </a:pPr>
            <a:r>
              <a:rPr sz="1500" b="0" i="0">
                <a:solidFill>
                  <a:srgbClr val="8A8A8A"/>
                </a:solidFill>
                <a:latin typeface="Segoe UI"/>
              </a:rPr>
              <a:t>(Giảm tải dữ liệu)</a:t>
            </a:r>
          </a:p>
        </p:txBody>
      </p:sp>
      <p:pic>
        <p:nvPicPr>
          <p:cNvPr id="16" name="Picture 15" descr="ill_fil.png"/>
          <p:cNvPicPr>
            <a:picLocks noChangeAspect="1"/>
          </p:cNvPicPr>
          <p:nvPr/>
        </p:nvPicPr>
        <p:blipFill>
          <a:blip r:embed="rId5"/>
          <a:stretch>
            <a:fillRect/>
          </a:stretch>
        </p:blipFill>
        <p:spPr>
          <a:xfrm>
            <a:off x="8311896" y="2240280"/>
            <a:ext cx="3108960" cy="2331720"/>
          </a:xfrm>
          <a:prstGeom prst="rect">
            <a:avLst/>
          </a:prstGeom>
        </p:spPr>
      </p:pic>
      <p:sp>
        <p:nvSpPr>
          <p:cNvPr id="17" name="TextBox 16"/>
          <p:cNvSpPr txBox="1"/>
          <p:nvPr/>
        </p:nvSpPr>
        <p:spPr>
          <a:xfrm>
            <a:off x="8083296" y="4754880"/>
            <a:ext cx="3566160" cy="1554480"/>
          </a:xfrm>
          <a:prstGeom prst="rect">
            <a:avLst/>
          </a:prstGeom>
          <a:noFill/>
        </p:spPr>
        <p:txBody>
          <a:bodyPr wrap="square" lIns="45720" tIns="18288" rIns="45720" bIns="18288" anchor="t">
            <a:spAutoFit/>
          </a:bodyPr>
          <a:lstStyle/>
          <a:p>
            <a:pPr algn="ctr">
              <a:lnSpc>
                <a:spcPct val="110000"/>
              </a:lnSpc>
            </a:pPr>
            <a:r>
              <a:rPr sz="1500" b="0" i="0">
                <a:solidFill>
                  <a:srgbClr val="404040"/>
                </a:solidFill>
                <a:latin typeface="Segoe UI"/>
              </a:rPr>
              <a:t>Đặt ràng buộc để loại hẳn các bản ghi hoặc chiều không cần thiết khỏi màn hình (khác Lựa chọn: chỉ làm nổi bật).</a:t>
            </a:r>
          </a:p>
        </p:txBody>
      </p:sp>
      <p:sp>
        <p:nvSpPr>
          <p:cNvPr id="18" name="Rectangle 17"/>
          <p:cNvSpPr/>
          <p:nvPr/>
        </p:nvSpPr>
        <p:spPr>
          <a:xfrm>
            <a:off x="4114800" y="1371600"/>
            <a:ext cx="18288" cy="48463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882127" y="1371600"/>
            <a:ext cx="18288" cy="48463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5079"/>
            <a:ext cx="11064240" cy="685800"/>
          </a:xfrm>
          <a:prstGeom prst="rect">
            <a:avLst/>
          </a:prstGeom>
          <a:noFill/>
        </p:spPr>
        <p:txBody>
          <a:bodyPr wrap="square" lIns="45720" tIns="18288" rIns="45720" bIns="18288" anchor="ctr">
            <a:spAutoFit/>
          </a:bodyPr>
          <a:lstStyle/>
          <a:p>
            <a:pPr algn="l">
              <a:lnSpc>
                <a:spcPct val="110000"/>
              </a:lnSpc>
            </a:pPr>
            <a:r>
              <a:rPr sz="3000" b="1" i="0">
                <a:solidFill>
                  <a:srgbClr val="404040"/>
                </a:solidFill>
                <a:latin typeface="Segoe UI"/>
              </a:rPr>
              <a:t>Nhóm 2: Tổ chức lại &amp; Mã hóa</a:t>
            </a:r>
          </a:p>
        </p:txBody>
      </p:sp>
      <p:sp>
        <p:nvSpPr>
          <p:cNvPr id="3" name="Rectangle 2"/>
          <p:cNvSpPr/>
          <p:nvPr/>
        </p:nvSpPr>
        <p:spPr>
          <a:xfrm>
            <a:off x="594360" y="1051560"/>
            <a:ext cx="82296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5486400" cy="274320"/>
          </a:xfrm>
          <a:prstGeom prst="rect">
            <a:avLst/>
          </a:prstGeom>
          <a:noFill/>
        </p:spPr>
        <p:txBody>
          <a:bodyPr wrap="square" lIns="45720" tIns="18288" rIns="45720" bIns="18288" anchor="t">
            <a:spAutoFit/>
          </a:bodyPr>
          <a:lstStyle/>
          <a:p>
            <a:pPr algn="l">
              <a:lnSpc>
                <a:spcPct val="110000"/>
              </a:lnSpc>
            </a:pPr>
            <a:r>
              <a:rPr sz="1000" b="0" i="0">
                <a:solidFill>
                  <a:srgbClr val="8A8A8A"/>
                </a:solidFill>
                <a:latin typeface="Segoe UI"/>
              </a:rPr>
              <a:t>Chương 11 – Các khái niệm tương tác  |  Nhóm 18</a:t>
            </a:r>
          </a:p>
        </p:txBody>
      </p:sp>
      <p:sp>
        <p:nvSpPr>
          <p:cNvPr id="5" name="TextBox 4"/>
          <p:cNvSpPr txBox="1"/>
          <p:nvPr/>
        </p:nvSpPr>
        <p:spPr>
          <a:xfrm>
            <a:off x="10972800" y="6446520"/>
            <a:ext cx="731520" cy="274320"/>
          </a:xfrm>
          <a:prstGeom prst="rect">
            <a:avLst/>
          </a:prstGeom>
          <a:noFill/>
        </p:spPr>
        <p:txBody>
          <a:bodyPr wrap="square" lIns="45720" tIns="18288" rIns="45720" bIns="18288" anchor="t">
            <a:spAutoFit/>
          </a:bodyPr>
          <a:lstStyle/>
          <a:p>
            <a:pPr algn="r">
              <a:lnSpc>
                <a:spcPct val="110000"/>
              </a:lnSpc>
            </a:pPr>
            <a:r>
              <a:rPr sz="1000" b="0" i="0">
                <a:solidFill>
                  <a:srgbClr val="8A8A8A"/>
                </a:solidFill>
                <a:latin typeface="Segoe UI"/>
              </a:rPr>
              <a:t>5</a:t>
            </a:r>
          </a:p>
        </p:txBody>
      </p:sp>
      <p:sp>
        <p:nvSpPr>
          <p:cNvPr id="6" name="TextBox 5"/>
          <p:cNvSpPr txBox="1"/>
          <p:nvPr/>
        </p:nvSpPr>
        <p:spPr>
          <a:xfrm>
            <a:off x="685800" y="1325880"/>
            <a:ext cx="5029200" cy="457200"/>
          </a:xfrm>
          <a:prstGeom prst="rect">
            <a:avLst/>
          </a:prstGeom>
          <a:noFill/>
        </p:spPr>
        <p:txBody>
          <a:bodyPr wrap="square" lIns="45720" tIns="18288" rIns="45720" bIns="18288" anchor="t">
            <a:spAutoFit/>
          </a:bodyPr>
          <a:lstStyle/>
          <a:p>
            <a:pPr algn="ctr">
              <a:lnSpc>
                <a:spcPct val="110000"/>
              </a:lnSpc>
            </a:pPr>
            <a:r>
              <a:rPr sz="2100" b="1" i="0">
                <a:solidFill>
                  <a:srgbClr val="404040"/>
                </a:solidFill>
                <a:latin typeface="Segoe UI"/>
              </a:rPr>
              <a:t>Tái cấu hình</a:t>
            </a:r>
          </a:p>
        </p:txBody>
      </p:sp>
      <p:sp>
        <p:nvSpPr>
          <p:cNvPr id="7" name="TextBox 6"/>
          <p:cNvSpPr txBox="1"/>
          <p:nvPr/>
        </p:nvSpPr>
        <p:spPr>
          <a:xfrm>
            <a:off x="685800" y="1737360"/>
            <a:ext cx="5029200" cy="365760"/>
          </a:xfrm>
          <a:prstGeom prst="rect">
            <a:avLst/>
          </a:prstGeom>
          <a:noFill/>
        </p:spPr>
        <p:txBody>
          <a:bodyPr wrap="square" lIns="45720" tIns="18288" rIns="45720" bIns="18288" anchor="t">
            <a:spAutoFit/>
          </a:bodyPr>
          <a:lstStyle/>
          <a:p>
            <a:pPr algn="ctr">
              <a:lnSpc>
                <a:spcPct val="110000"/>
              </a:lnSpc>
            </a:pPr>
            <a:r>
              <a:rPr sz="1500" b="0" i="0">
                <a:solidFill>
                  <a:srgbClr val="8A8A8A"/>
                </a:solidFill>
                <a:latin typeface="Segoe UI"/>
              </a:rPr>
              <a:t>(Tổ chức lại)</a:t>
            </a:r>
          </a:p>
        </p:txBody>
      </p:sp>
      <p:pic>
        <p:nvPicPr>
          <p:cNvPr id="8" name="Picture 7" descr="ill_rec.png"/>
          <p:cNvPicPr>
            <a:picLocks noChangeAspect="1"/>
          </p:cNvPicPr>
          <p:nvPr/>
        </p:nvPicPr>
        <p:blipFill>
          <a:blip r:embed="rId3"/>
          <a:stretch>
            <a:fillRect/>
          </a:stretch>
        </p:blipFill>
        <p:spPr>
          <a:xfrm>
            <a:off x="1188720" y="2194560"/>
            <a:ext cx="4023360" cy="3017520"/>
          </a:xfrm>
          <a:prstGeom prst="rect">
            <a:avLst/>
          </a:prstGeom>
        </p:spPr>
      </p:pic>
      <p:sp>
        <p:nvSpPr>
          <p:cNvPr id="9" name="TextBox 8"/>
          <p:cNvSpPr txBox="1"/>
          <p:nvPr/>
        </p:nvSpPr>
        <p:spPr>
          <a:xfrm>
            <a:off x="685800" y="5349240"/>
            <a:ext cx="5029200" cy="1005840"/>
          </a:xfrm>
          <a:prstGeom prst="rect">
            <a:avLst/>
          </a:prstGeom>
          <a:noFill/>
        </p:spPr>
        <p:txBody>
          <a:bodyPr wrap="square" lIns="45720" tIns="18288" rIns="45720" bIns="18288" anchor="t">
            <a:spAutoFit/>
          </a:bodyPr>
          <a:lstStyle/>
          <a:p>
            <a:pPr algn="ctr">
              <a:lnSpc>
                <a:spcPct val="110000"/>
              </a:lnSpc>
            </a:pPr>
            <a:r>
              <a:rPr sz="1500" b="0" i="0">
                <a:solidFill>
                  <a:srgbClr val="404040"/>
                </a:solidFill>
                <a:latin typeface="Segoe UI"/>
              </a:rPr>
              <a:t>Sắp xếp lại dữ liệu hoặc bố cục (đổi trục, đổi thứ tự chiều, PCA/MDS) để làm lộ các xu hướng ẩn.</a:t>
            </a:r>
          </a:p>
        </p:txBody>
      </p:sp>
      <p:sp>
        <p:nvSpPr>
          <p:cNvPr id="10" name="TextBox 9"/>
          <p:cNvSpPr txBox="1"/>
          <p:nvPr/>
        </p:nvSpPr>
        <p:spPr>
          <a:xfrm>
            <a:off x="6446520" y="1325880"/>
            <a:ext cx="5029200" cy="457200"/>
          </a:xfrm>
          <a:prstGeom prst="rect">
            <a:avLst/>
          </a:prstGeom>
          <a:noFill/>
        </p:spPr>
        <p:txBody>
          <a:bodyPr wrap="square" lIns="45720" tIns="18288" rIns="45720" bIns="18288" anchor="t">
            <a:spAutoFit/>
          </a:bodyPr>
          <a:lstStyle/>
          <a:p>
            <a:pPr algn="ctr">
              <a:lnSpc>
                <a:spcPct val="110000"/>
              </a:lnSpc>
            </a:pPr>
            <a:r>
              <a:rPr sz="2100" b="1" i="0">
                <a:solidFill>
                  <a:srgbClr val="404040"/>
                </a:solidFill>
                <a:latin typeface="Segoe UI"/>
              </a:rPr>
              <a:t>Mã hóa</a:t>
            </a:r>
          </a:p>
        </p:txBody>
      </p:sp>
      <p:sp>
        <p:nvSpPr>
          <p:cNvPr id="11" name="TextBox 10"/>
          <p:cNvSpPr txBox="1"/>
          <p:nvPr/>
        </p:nvSpPr>
        <p:spPr>
          <a:xfrm>
            <a:off x="6446520" y="1737360"/>
            <a:ext cx="5029200" cy="365760"/>
          </a:xfrm>
          <a:prstGeom prst="rect">
            <a:avLst/>
          </a:prstGeom>
          <a:noFill/>
        </p:spPr>
        <p:txBody>
          <a:bodyPr wrap="square" lIns="45720" tIns="18288" rIns="45720" bIns="18288" anchor="t">
            <a:spAutoFit/>
          </a:bodyPr>
          <a:lstStyle/>
          <a:p>
            <a:pPr algn="ctr">
              <a:lnSpc>
                <a:spcPct val="110000"/>
              </a:lnSpc>
            </a:pPr>
            <a:r>
              <a:rPr sz="1500" b="0" i="0">
                <a:solidFill>
                  <a:srgbClr val="8A8A8A"/>
                </a:solidFill>
                <a:latin typeface="Segoe UI"/>
              </a:rPr>
              <a:t>(Thay đổi thuộc tính đồ họa)</a:t>
            </a:r>
          </a:p>
        </p:txBody>
      </p:sp>
      <p:pic>
        <p:nvPicPr>
          <p:cNvPr id="12" name="Picture 11" descr="ill_enc.png"/>
          <p:cNvPicPr>
            <a:picLocks noChangeAspect="1"/>
          </p:cNvPicPr>
          <p:nvPr/>
        </p:nvPicPr>
        <p:blipFill>
          <a:blip r:embed="rId4"/>
          <a:stretch>
            <a:fillRect/>
          </a:stretch>
        </p:blipFill>
        <p:spPr>
          <a:xfrm>
            <a:off x="6949440" y="2194560"/>
            <a:ext cx="4023360" cy="3017520"/>
          </a:xfrm>
          <a:prstGeom prst="rect">
            <a:avLst/>
          </a:prstGeom>
        </p:spPr>
      </p:pic>
      <p:sp>
        <p:nvSpPr>
          <p:cNvPr id="13" name="TextBox 12"/>
          <p:cNvSpPr txBox="1"/>
          <p:nvPr/>
        </p:nvSpPr>
        <p:spPr>
          <a:xfrm>
            <a:off x="6446520" y="5349240"/>
            <a:ext cx="5029200" cy="1005840"/>
          </a:xfrm>
          <a:prstGeom prst="rect">
            <a:avLst/>
          </a:prstGeom>
          <a:noFill/>
        </p:spPr>
        <p:txBody>
          <a:bodyPr wrap="square" lIns="45720" tIns="18288" rIns="45720" bIns="18288" anchor="t">
            <a:spAutoFit/>
          </a:bodyPr>
          <a:lstStyle/>
          <a:p>
            <a:pPr algn="ctr">
              <a:lnSpc>
                <a:spcPct val="110000"/>
              </a:lnSpc>
            </a:pPr>
            <a:r>
              <a:rPr sz="1500" b="0" i="0">
                <a:solidFill>
                  <a:srgbClr val="404040"/>
                </a:solidFill>
                <a:latin typeface="Segoe UI"/>
              </a:rPr>
              <a:t>Thay đổi màu sắc, kích thước, hình dạng hoặc dạng biểu đồ để nhấn mạnh các đặc trưng khác nhau của dữ liệu.</a:t>
            </a:r>
          </a:p>
        </p:txBody>
      </p:sp>
      <p:sp>
        <p:nvSpPr>
          <p:cNvPr id="14" name="Rectangle 13"/>
          <p:cNvSpPr/>
          <p:nvPr/>
        </p:nvSpPr>
        <p:spPr>
          <a:xfrm>
            <a:off x="6099048" y="1371600"/>
            <a:ext cx="18288" cy="48463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tIns="18288" rIns="45720" bIns="18288" anchor="ctr">
            <a:spAutoFit/>
          </a:bodyPr>
          <a:lstStyle/>
          <a:p>
            <a:pPr algn="l">
              <a:lnSpc>
                <a:spcPct val="110000"/>
              </a:lnSpc>
            </a:pPr>
            <a:r>
              <a:rPr sz="3000" b="1" i="0">
                <a:solidFill>
                  <a:srgbClr val="404040"/>
                </a:solidFill>
                <a:latin typeface="Segoe UI"/>
              </a:rPr>
              <a:t>Nhóm 3: Liên kết &amp; Đào sâu</a:t>
            </a:r>
          </a:p>
        </p:txBody>
      </p:sp>
      <p:sp>
        <p:nvSpPr>
          <p:cNvPr id="3" name="Rectangle 2"/>
          <p:cNvSpPr/>
          <p:nvPr/>
        </p:nvSpPr>
        <p:spPr>
          <a:xfrm>
            <a:off x="594360" y="1051560"/>
            <a:ext cx="82296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5486400" cy="274320"/>
          </a:xfrm>
          <a:prstGeom prst="rect">
            <a:avLst/>
          </a:prstGeom>
          <a:noFill/>
        </p:spPr>
        <p:txBody>
          <a:bodyPr wrap="square" lIns="45720" tIns="18288" rIns="45720" bIns="18288" anchor="t">
            <a:spAutoFit/>
          </a:bodyPr>
          <a:lstStyle/>
          <a:p>
            <a:pPr algn="l">
              <a:lnSpc>
                <a:spcPct val="110000"/>
              </a:lnSpc>
            </a:pPr>
            <a:r>
              <a:rPr sz="1000" b="0" i="0">
                <a:solidFill>
                  <a:srgbClr val="8A8A8A"/>
                </a:solidFill>
                <a:latin typeface="Segoe UI"/>
              </a:rPr>
              <a:t>Chương 11 – Các khái niệm tương tác  |  Nhóm 18</a:t>
            </a:r>
          </a:p>
        </p:txBody>
      </p:sp>
      <p:sp>
        <p:nvSpPr>
          <p:cNvPr id="5" name="TextBox 4"/>
          <p:cNvSpPr txBox="1"/>
          <p:nvPr/>
        </p:nvSpPr>
        <p:spPr>
          <a:xfrm>
            <a:off x="10972800" y="6446520"/>
            <a:ext cx="731520" cy="274320"/>
          </a:xfrm>
          <a:prstGeom prst="rect">
            <a:avLst/>
          </a:prstGeom>
          <a:noFill/>
        </p:spPr>
        <p:txBody>
          <a:bodyPr wrap="square" lIns="45720" tIns="18288" rIns="45720" bIns="18288" anchor="t">
            <a:spAutoFit/>
          </a:bodyPr>
          <a:lstStyle/>
          <a:p>
            <a:pPr algn="r">
              <a:lnSpc>
                <a:spcPct val="110000"/>
              </a:lnSpc>
            </a:pPr>
            <a:r>
              <a:rPr sz="1000" b="0" i="0">
                <a:solidFill>
                  <a:srgbClr val="8A8A8A"/>
                </a:solidFill>
                <a:latin typeface="Segoe UI"/>
              </a:rPr>
              <a:t>6</a:t>
            </a:r>
          </a:p>
        </p:txBody>
      </p:sp>
      <p:sp>
        <p:nvSpPr>
          <p:cNvPr id="6" name="TextBox 5"/>
          <p:cNvSpPr txBox="1"/>
          <p:nvPr/>
        </p:nvSpPr>
        <p:spPr>
          <a:xfrm>
            <a:off x="685800" y="1325880"/>
            <a:ext cx="5029200" cy="457200"/>
          </a:xfrm>
          <a:prstGeom prst="rect">
            <a:avLst/>
          </a:prstGeom>
          <a:noFill/>
        </p:spPr>
        <p:txBody>
          <a:bodyPr wrap="square" lIns="45720" tIns="18288" rIns="45720" bIns="18288" anchor="t">
            <a:spAutoFit/>
          </a:bodyPr>
          <a:lstStyle/>
          <a:p>
            <a:pPr algn="ctr">
              <a:lnSpc>
                <a:spcPct val="110000"/>
              </a:lnSpc>
            </a:pPr>
            <a:r>
              <a:rPr sz="2100" b="1" i="0">
                <a:solidFill>
                  <a:srgbClr val="404040"/>
                </a:solidFill>
                <a:latin typeface="Segoe UI"/>
              </a:rPr>
              <a:t>Kết nối</a:t>
            </a:r>
          </a:p>
        </p:txBody>
      </p:sp>
      <p:sp>
        <p:nvSpPr>
          <p:cNvPr id="7" name="TextBox 6"/>
          <p:cNvSpPr txBox="1"/>
          <p:nvPr/>
        </p:nvSpPr>
        <p:spPr>
          <a:xfrm>
            <a:off x="685800" y="1737360"/>
            <a:ext cx="5029200" cy="365760"/>
          </a:xfrm>
          <a:prstGeom prst="rect">
            <a:avLst/>
          </a:prstGeom>
          <a:noFill/>
        </p:spPr>
        <p:txBody>
          <a:bodyPr wrap="square" lIns="45720" tIns="18288" rIns="45720" bIns="18288" anchor="t">
            <a:spAutoFit/>
          </a:bodyPr>
          <a:lstStyle/>
          <a:p>
            <a:pPr algn="ctr">
              <a:lnSpc>
                <a:spcPct val="110000"/>
              </a:lnSpc>
            </a:pPr>
            <a:r>
              <a:rPr sz="1500" b="0" i="0">
                <a:solidFill>
                  <a:srgbClr val="8A8A8A"/>
                </a:solidFill>
                <a:latin typeface="Segoe UI"/>
              </a:rPr>
              <a:t>(Khung nhìn liên kết)</a:t>
            </a:r>
          </a:p>
        </p:txBody>
      </p:sp>
      <p:pic>
        <p:nvPicPr>
          <p:cNvPr id="8" name="Picture 7" descr="ill_con.png"/>
          <p:cNvPicPr>
            <a:picLocks noChangeAspect="1"/>
          </p:cNvPicPr>
          <p:nvPr/>
        </p:nvPicPr>
        <p:blipFill>
          <a:blip r:embed="rId3"/>
          <a:stretch>
            <a:fillRect/>
          </a:stretch>
        </p:blipFill>
        <p:spPr>
          <a:xfrm>
            <a:off x="1188720" y="2194560"/>
            <a:ext cx="4023360" cy="3017520"/>
          </a:xfrm>
          <a:prstGeom prst="rect">
            <a:avLst/>
          </a:prstGeom>
        </p:spPr>
      </p:pic>
      <p:sp>
        <p:nvSpPr>
          <p:cNvPr id="9" name="TextBox 8"/>
          <p:cNvSpPr txBox="1"/>
          <p:nvPr/>
        </p:nvSpPr>
        <p:spPr>
          <a:xfrm>
            <a:off x="685800" y="5349240"/>
            <a:ext cx="5029200" cy="1005840"/>
          </a:xfrm>
          <a:prstGeom prst="rect">
            <a:avLst/>
          </a:prstGeom>
          <a:noFill/>
        </p:spPr>
        <p:txBody>
          <a:bodyPr wrap="square" lIns="45720" tIns="18288" rIns="45720" bIns="18288" anchor="t">
            <a:spAutoFit/>
          </a:bodyPr>
          <a:lstStyle/>
          <a:p>
            <a:pPr algn="ctr">
              <a:lnSpc>
                <a:spcPct val="110000"/>
              </a:lnSpc>
            </a:pPr>
            <a:r>
              <a:rPr sz="1500" b="0" i="0">
                <a:solidFill>
                  <a:srgbClr val="404040"/>
                </a:solidFill>
                <a:latin typeface="Segoe UI"/>
              </a:rPr>
              <a:t>Brushing liên kết: chọn dữ liệu ở một khung nhìn, dữ liệu tương ứng ở các khung nhìn khác tự động nổi bật.</a:t>
            </a:r>
          </a:p>
        </p:txBody>
      </p:sp>
      <p:sp>
        <p:nvSpPr>
          <p:cNvPr id="10" name="TextBox 9"/>
          <p:cNvSpPr txBox="1"/>
          <p:nvPr/>
        </p:nvSpPr>
        <p:spPr>
          <a:xfrm>
            <a:off x="6446520" y="1325880"/>
            <a:ext cx="5029200" cy="457200"/>
          </a:xfrm>
          <a:prstGeom prst="rect">
            <a:avLst/>
          </a:prstGeom>
          <a:noFill/>
        </p:spPr>
        <p:txBody>
          <a:bodyPr wrap="square" lIns="45720" tIns="18288" rIns="45720" bIns="18288" anchor="t">
            <a:spAutoFit/>
          </a:bodyPr>
          <a:lstStyle/>
          <a:p>
            <a:pPr algn="ctr">
              <a:lnSpc>
                <a:spcPct val="110000"/>
              </a:lnSpc>
            </a:pPr>
            <a:r>
              <a:rPr sz="2100" b="1" i="0">
                <a:solidFill>
                  <a:srgbClr val="404040"/>
                </a:solidFill>
                <a:latin typeface="Segoe UI"/>
              </a:rPr>
              <a:t>Khái quát / Chi tiết hóa</a:t>
            </a:r>
          </a:p>
        </p:txBody>
      </p:sp>
      <p:sp>
        <p:nvSpPr>
          <p:cNvPr id="11" name="TextBox 10"/>
          <p:cNvSpPr txBox="1"/>
          <p:nvPr/>
        </p:nvSpPr>
        <p:spPr>
          <a:xfrm>
            <a:off x="6446520" y="1737360"/>
            <a:ext cx="5029200" cy="365760"/>
          </a:xfrm>
          <a:prstGeom prst="rect">
            <a:avLst/>
          </a:prstGeom>
          <a:noFill/>
        </p:spPr>
        <p:txBody>
          <a:bodyPr wrap="square" lIns="45720" tIns="18288" rIns="45720" bIns="18288" anchor="t">
            <a:spAutoFit/>
          </a:bodyPr>
          <a:lstStyle/>
          <a:p>
            <a:pPr algn="ctr">
              <a:lnSpc>
                <a:spcPct val="110000"/>
              </a:lnSpc>
            </a:pPr>
            <a:r>
              <a:rPr sz="1500" b="0" i="0">
                <a:solidFill>
                  <a:srgbClr val="8A8A8A"/>
                </a:solidFill>
                <a:latin typeface="Segoe UI"/>
              </a:rPr>
              <a:t>(Abstract / Elaborate)</a:t>
            </a:r>
          </a:p>
        </p:txBody>
      </p:sp>
      <p:pic>
        <p:nvPicPr>
          <p:cNvPr id="12" name="Picture 11" descr="ill_abs.png"/>
          <p:cNvPicPr>
            <a:picLocks noChangeAspect="1"/>
          </p:cNvPicPr>
          <p:nvPr/>
        </p:nvPicPr>
        <p:blipFill>
          <a:blip r:embed="rId4"/>
          <a:stretch>
            <a:fillRect/>
          </a:stretch>
        </p:blipFill>
        <p:spPr>
          <a:xfrm>
            <a:off x="6949440" y="2194560"/>
            <a:ext cx="4023360" cy="3017520"/>
          </a:xfrm>
          <a:prstGeom prst="rect">
            <a:avLst/>
          </a:prstGeom>
        </p:spPr>
      </p:pic>
      <p:sp>
        <p:nvSpPr>
          <p:cNvPr id="13" name="TextBox 12"/>
          <p:cNvSpPr txBox="1"/>
          <p:nvPr/>
        </p:nvSpPr>
        <p:spPr>
          <a:xfrm>
            <a:off x="6446520" y="5349240"/>
            <a:ext cx="5029200" cy="1005840"/>
          </a:xfrm>
          <a:prstGeom prst="rect">
            <a:avLst/>
          </a:prstGeom>
          <a:noFill/>
        </p:spPr>
        <p:txBody>
          <a:bodyPr wrap="square" lIns="45720" tIns="18288" rIns="45720" bIns="18288" anchor="t">
            <a:spAutoFit/>
          </a:bodyPr>
          <a:lstStyle/>
          <a:p>
            <a:pPr algn="ctr">
              <a:lnSpc>
                <a:spcPct val="110000"/>
              </a:lnSpc>
            </a:pPr>
            <a:r>
              <a:rPr sz="1500" b="0" i="0">
                <a:solidFill>
                  <a:srgbClr val="404040"/>
                </a:solidFill>
                <a:latin typeface="Segoe UI"/>
              </a:rPr>
              <a:t>Thay đổi mức độ chi tiết: chi tiết hóa (drill-down) hoặc khái quát hóa (roll-up); phóng to tiêu điểm nhưng vẫn giữ ngữ cảnh.</a:t>
            </a:r>
          </a:p>
        </p:txBody>
      </p:sp>
      <p:sp>
        <p:nvSpPr>
          <p:cNvPr id="14" name="Rectangle 13"/>
          <p:cNvSpPr/>
          <p:nvPr/>
        </p:nvSpPr>
        <p:spPr>
          <a:xfrm>
            <a:off x="6099048" y="1371600"/>
            <a:ext cx="18288" cy="48463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tIns="18288" rIns="45720" bIns="18288" anchor="ctr">
            <a:spAutoFit/>
          </a:bodyPr>
          <a:lstStyle/>
          <a:p>
            <a:pPr algn="l">
              <a:lnSpc>
                <a:spcPct val="110000"/>
              </a:lnSpc>
            </a:pPr>
            <a:r>
              <a:rPr sz="3000" b="1" i="0">
                <a:solidFill>
                  <a:srgbClr val="404040"/>
                </a:solidFill>
                <a:latin typeface="Segoe UI"/>
              </a:rPr>
              <a:t>6 Không gian Tương tác (Toán hạng)</a:t>
            </a:r>
          </a:p>
        </p:txBody>
      </p:sp>
      <p:sp>
        <p:nvSpPr>
          <p:cNvPr id="3" name="Rectangle 2"/>
          <p:cNvSpPr/>
          <p:nvPr/>
        </p:nvSpPr>
        <p:spPr>
          <a:xfrm>
            <a:off x="594360" y="1051560"/>
            <a:ext cx="82296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5486400" cy="274320"/>
          </a:xfrm>
          <a:prstGeom prst="rect">
            <a:avLst/>
          </a:prstGeom>
          <a:noFill/>
        </p:spPr>
        <p:txBody>
          <a:bodyPr wrap="square" lIns="45720" tIns="18288" rIns="45720" bIns="18288" anchor="t">
            <a:spAutoFit/>
          </a:bodyPr>
          <a:lstStyle/>
          <a:p>
            <a:pPr algn="l">
              <a:lnSpc>
                <a:spcPct val="110000"/>
              </a:lnSpc>
            </a:pPr>
            <a:r>
              <a:rPr sz="1000" b="0" i="0">
                <a:solidFill>
                  <a:srgbClr val="8A8A8A"/>
                </a:solidFill>
                <a:latin typeface="Segoe UI"/>
              </a:rPr>
              <a:t>Chương 11 – Các khái niệm tương tác  |  Nhóm 18</a:t>
            </a:r>
          </a:p>
        </p:txBody>
      </p:sp>
      <p:sp>
        <p:nvSpPr>
          <p:cNvPr id="5" name="TextBox 4"/>
          <p:cNvSpPr txBox="1"/>
          <p:nvPr/>
        </p:nvSpPr>
        <p:spPr>
          <a:xfrm>
            <a:off x="10972800" y="6446520"/>
            <a:ext cx="731520" cy="274320"/>
          </a:xfrm>
          <a:prstGeom prst="rect">
            <a:avLst/>
          </a:prstGeom>
          <a:noFill/>
        </p:spPr>
        <p:txBody>
          <a:bodyPr wrap="square" lIns="45720" tIns="18288" rIns="45720" bIns="18288" anchor="t">
            <a:spAutoFit/>
          </a:bodyPr>
          <a:lstStyle/>
          <a:p>
            <a:pPr algn="r">
              <a:lnSpc>
                <a:spcPct val="110000"/>
              </a:lnSpc>
            </a:pPr>
            <a:r>
              <a:rPr sz="1000" b="0" i="0">
                <a:solidFill>
                  <a:srgbClr val="8A8A8A"/>
                </a:solidFill>
                <a:latin typeface="Segoe UI"/>
              </a:rPr>
              <a:t>7</a:t>
            </a:r>
          </a:p>
        </p:txBody>
      </p:sp>
      <p:pic>
        <p:nvPicPr>
          <p:cNvPr id="6" name="Picture 5" descr="ill_layers.png"/>
          <p:cNvPicPr>
            <a:picLocks noChangeAspect="1"/>
          </p:cNvPicPr>
          <p:nvPr/>
        </p:nvPicPr>
        <p:blipFill>
          <a:blip r:embed="rId3"/>
          <a:stretch>
            <a:fillRect/>
          </a:stretch>
        </p:blipFill>
        <p:spPr>
          <a:xfrm>
            <a:off x="3657600" y="1371600"/>
            <a:ext cx="3575303" cy="4780025"/>
          </a:xfrm>
          <a:prstGeom prst="rect">
            <a:avLst/>
          </a:prstGeom>
        </p:spPr>
      </p:pic>
      <p:sp>
        <p:nvSpPr>
          <p:cNvPr id="7" name="Rectangle 6"/>
          <p:cNvSpPr/>
          <p:nvPr/>
        </p:nvSpPr>
        <p:spPr>
          <a:xfrm>
            <a:off x="7095744" y="5529834"/>
            <a:ext cx="374904" cy="109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79" y="5200650"/>
            <a:ext cx="4206240" cy="685800"/>
          </a:xfrm>
          <a:prstGeom prst="rect">
            <a:avLst/>
          </a:prstGeom>
          <a:noFill/>
        </p:spPr>
        <p:txBody>
          <a:bodyPr wrap="square" lIns="45720" tIns="18288" rIns="45720" bIns="18288" anchor="ctr">
            <a:spAutoFit/>
          </a:bodyPr>
          <a:lstStyle/>
          <a:p>
            <a:pPr algn="l">
              <a:lnSpc>
                <a:spcPct val="110000"/>
              </a:lnSpc>
            </a:pPr>
            <a:r>
              <a:rPr sz="1600" b="1" i="0">
                <a:solidFill>
                  <a:srgbClr val="404040"/>
                </a:solidFill>
                <a:latin typeface="Segoe UI"/>
              </a:rPr>
              <a:t>1. Không gian Giá trị Dữ liệu</a:t>
            </a:r>
          </a:p>
          <a:p>
            <a:pPr algn="l">
              <a:lnSpc>
                <a:spcPct val="110000"/>
              </a:lnSpc>
            </a:pPr>
            <a:r>
              <a:rPr sz="1200" b="0" i="0">
                <a:solidFill>
                  <a:srgbClr val="8A8A8A"/>
                </a:solidFill>
                <a:latin typeface="Segoe UI"/>
              </a:rPr>
              <a:t>Khoảng giá trị, số chiều (Data Value)</a:t>
            </a:r>
          </a:p>
        </p:txBody>
      </p:sp>
      <p:sp>
        <p:nvSpPr>
          <p:cNvPr id="9" name="Rectangle 8"/>
          <p:cNvSpPr/>
          <p:nvPr/>
        </p:nvSpPr>
        <p:spPr>
          <a:xfrm>
            <a:off x="7095744" y="4830318"/>
            <a:ext cx="374904" cy="109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79" y="4501134"/>
            <a:ext cx="4206240" cy="685800"/>
          </a:xfrm>
          <a:prstGeom prst="rect">
            <a:avLst/>
          </a:prstGeom>
          <a:noFill/>
        </p:spPr>
        <p:txBody>
          <a:bodyPr wrap="square" lIns="45720" tIns="18288" rIns="45720" bIns="18288" anchor="ctr">
            <a:spAutoFit/>
          </a:bodyPr>
          <a:lstStyle/>
          <a:p>
            <a:pPr algn="l">
              <a:lnSpc>
                <a:spcPct val="110000"/>
              </a:lnSpc>
            </a:pPr>
            <a:r>
              <a:rPr sz="1600" b="1" i="0">
                <a:solidFill>
                  <a:srgbClr val="404040"/>
                </a:solidFill>
                <a:latin typeface="Segoe UI"/>
              </a:rPr>
              <a:t>2. Không gian Cấu trúc Dữ liệu</a:t>
            </a:r>
          </a:p>
          <a:p>
            <a:pPr algn="l">
              <a:lnSpc>
                <a:spcPct val="110000"/>
              </a:lnSpc>
            </a:pPr>
            <a:r>
              <a:rPr sz="1200" b="0" i="0">
                <a:solidFill>
                  <a:srgbClr val="8A8A8A"/>
                </a:solidFill>
                <a:latin typeface="Segoe UI"/>
              </a:rPr>
              <a:t>Lưới, danh sách, cây phân cấp (Data Structure)</a:t>
            </a:r>
          </a:p>
        </p:txBody>
      </p:sp>
      <p:sp>
        <p:nvSpPr>
          <p:cNvPr id="11" name="Rectangle 10"/>
          <p:cNvSpPr/>
          <p:nvPr/>
        </p:nvSpPr>
        <p:spPr>
          <a:xfrm>
            <a:off x="7095744" y="4130802"/>
            <a:ext cx="374904" cy="109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79" y="3801618"/>
            <a:ext cx="4206240" cy="685800"/>
          </a:xfrm>
          <a:prstGeom prst="rect">
            <a:avLst/>
          </a:prstGeom>
          <a:noFill/>
        </p:spPr>
        <p:txBody>
          <a:bodyPr wrap="square" lIns="45720" tIns="18288" rIns="45720" bIns="18288" anchor="ctr">
            <a:spAutoFit/>
          </a:bodyPr>
          <a:lstStyle/>
          <a:p>
            <a:pPr algn="l">
              <a:lnSpc>
                <a:spcPct val="110000"/>
              </a:lnSpc>
            </a:pPr>
            <a:r>
              <a:rPr sz="1600" b="1" i="0">
                <a:solidFill>
                  <a:srgbClr val="404040"/>
                </a:solidFill>
                <a:latin typeface="Segoe UI"/>
              </a:rPr>
              <a:t>3. Không gian Đối tượng</a:t>
            </a:r>
          </a:p>
          <a:p>
            <a:pPr algn="l">
              <a:lnSpc>
                <a:spcPct val="110000"/>
              </a:lnSpc>
            </a:pPr>
            <a:r>
              <a:rPr sz="1200" b="0" i="0">
                <a:solidFill>
                  <a:srgbClr val="8A8A8A"/>
                </a:solidFill>
                <a:latin typeface="Segoe UI"/>
              </a:rPr>
              <a:t>Bề mặt hình học chứa dữ liệu, kể cả 3D (Object)</a:t>
            </a:r>
          </a:p>
        </p:txBody>
      </p:sp>
      <p:sp>
        <p:nvSpPr>
          <p:cNvPr id="13" name="Rectangle 12"/>
          <p:cNvSpPr/>
          <p:nvPr/>
        </p:nvSpPr>
        <p:spPr>
          <a:xfrm>
            <a:off x="7095744" y="3431286"/>
            <a:ext cx="374904" cy="109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79" y="3102102"/>
            <a:ext cx="4206240" cy="685800"/>
          </a:xfrm>
          <a:prstGeom prst="rect">
            <a:avLst/>
          </a:prstGeom>
          <a:noFill/>
        </p:spPr>
        <p:txBody>
          <a:bodyPr wrap="square" lIns="45720" tIns="18288" rIns="45720" bIns="18288" anchor="ctr">
            <a:spAutoFit/>
          </a:bodyPr>
          <a:lstStyle/>
          <a:p>
            <a:pPr algn="l">
              <a:lnSpc>
                <a:spcPct val="110000"/>
              </a:lnSpc>
            </a:pPr>
            <a:r>
              <a:rPr sz="1600" b="1" i="0">
                <a:solidFill>
                  <a:srgbClr val="404040"/>
                </a:solidFill>
                <a:latin typeface="Segoe UI"/>
              </a:rPr>
              <a:t>4. Không gian Thuộc tính</a:t>
            </a:r>
          </a:p>
          <a:p>
            <a:pPr algn="l">
              <a:lnSpc>
                <a:spcPct val="110000"/>
              </a:lnSpc>
            </a:pPr>
            <a:r>
              <a:rPr sz="1200" b="0" i="0">
                <a:solidFill>
                  <a:srgbClr val="8A8A8A"/>
                </a:solidFill>
                <a:latin typeface="Segoe UI"/>
              </a:rPr>
              <a:t>Màu sắc, kích thước, hình dạng (Attribute)</a:t>
            </a:r>
          </a:p>
        </p:txBody>
      </p:sp>
      <p:sp>
        <p:nvSpPr>
          <p:cNvPr id="15" name="Rectangle 14"/>
          <p:cNvSpPr/>
          <p:nvPr/>
        </p:nvSpPr>
        <p:spPr>
          <a:xfrm>
            <a:off x="7095744" y="2731770"/>
            <a:ext cx="374904" cy="109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79" y="2402586"/>
            <a:ext cx="4206240" cy="685800"/>
          </a:xfrm>
          <a:prstGeom prst="rect">
            <a:avLst/>
          </a:prstGeom>
          <a:noFill/>
        </p:spPr>
        <p:txBody>
          <a:bodyPr wrap="square" lIns="45720" tIns="18288" rIns="45720" bIns="18288" anchor="ctr">
            <a:spAutoFit/>
          </a:bodyPr>
          <a:lstStyle/>
          <a:p>
            <a:pPr algn="l">
              <a:lnSpc>
                <a:spcPct val="110000"/>
              </a:lnSpc>
            </a:pPr>
            <a:r>
              <a:rPr sz="1600" b="1" i="0">
                <a:solidFill>
                  <a:srgbClr val="404040"/>
                </a:solidFill>
                <a:latin typeface="Segoe UI"/>
              </a:rPr>
              <a:t>5. Không gian Màn hình</a:t>
            </a:r>
          </a:p>
          <a:p>
            <a:pPr algn="l">
              <a:lnSpc>
                <a:spcPct val="110000"/>
              </a:lnSpc>
            </a:pPr>
            <a:r>
              <a:rPr sz="1200" b="0" i="0">
                <a:solidFill>
                  <a:srgbClr val="8A8A8A"/>
                </a:solidFill>
                <a:latin typeface="Segoe UI"/>
              </a:rPr>
              <a:t>Điểm ảnh – pixel (Screen)</a:t>
            </a:r>
          </a:p>
        </p:txBody>
      </p:sp>
      <p:sp>
        <p:nvSpPr>
          <p:cNvPr id="17" name="Rectangle 16"/>
          <p:cNvSpPr/>
          <p:nvPr/>
        </p:nvSpPr>
        <p:spPr>
          <a:xfrm>
            <a:off x="7095744" y="2032254"/>
            <a:ext cx="374904" cy="109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1703070"/>
            <a:ext cx="4206240" cy="685800"/>
          </a:xfrm>
          <a:prstGeom prst="rect">
            <a:avLst/>
          </a:prstGeom>
          <a:noFill/>
        </p:spPr>
        <p:txBody>
          <a:bodyPr wrap="square" lIns="45720" tIns="18288" rIns="45720" bIns="18288" anchor="ctr">
            <a:spAutoFit/>
          </a:bodyPr>
          <a:lstStyle/>
          <a:p>
            <a:pPr algn="l">
              <a:lnSpc>
                <a:spcPct val="110000"/>
              </a:lnSpc>
            </a:pPr>
            <a:r>
              <a:rPr sz="1600" b="1" i="0">
                <a:solidFill>
                  <a:srgbClr val="404040"/>
                </a:solidFill>
                <a:latin typeface="Segoe UI"/>
              </a:rPr>
              <a:t>6. Không gian Cấu trúc Trực quan</a:t>
            </a:r>
          </a:p>
          <a:p>
            <a:pPr algn="l">
              <a:lnSpc>
                <a:spcPct val="110000"/>
              </a:lnSpc>
            </a:pPr>
            <a:r>
              <a:rPr sz="1200" b="0" i="0">
                <a:solidFill>
                  <a:srgbClr val="8A8A8A"/>
                </a:solidFill>
                <a:latin typeface="Segoe UI"/>
              </a:rPr>
              <a:t>Lưới đồ thị, trục tọa độ, bố cục (Visualization Structure)</a:t>
            </a:r>
          </a:p>
        </p:txBody>
      </p:sp>
      <p:sp>
        <p:nvSpPr>
          <p:cNvPr id="19" name="TextBox 18"/>
          <p:cNvSpPr txBox="1"/>
          <p:nvPr/>
        </p:nvSpPr>
        <p:spPr>
          <a:xfrm>
            <a:off x="548640" y="2011680"/>
            <a:ext cx="2834640" cy="3108960"/>
          </a:xfrm>
          <a:prstGeom prst="rect">
            <a:avLst/>
          </a:prstGeom>
          <a:noFill/>
        </p:spPr>
        <p:txBody>
          <a:bodyPr wrap="square" lIns="45720" tIns="18288" rIns="45720" bIns="18288" anchor="t">
            <a:spAutoFit/>
          </a:bodyPr>
          <a:lstStyle/>
          <a:p>
            <a:pPr algn="l">
              <a:lnSpc>
                <a:spcPct val="110000"/>
              </a:lnSpc>
            </a:pPr>
            <a:r>
              <a:rPr sz="2000" b="1" i="0">
                <a:solidFill>
                  <a:srgbClr val="F97316"/>
                </a:solidFill>
                <a:latin typeface="Segoe UI"/>
              </a:rPr>
              <a:t>Toán hạng</a:t>
            </a:r>
          </a:p>
          <a:p>
            <a:pPr algn="l">
              <a:lnSpc>
                <a:spcPct val="110000"/>
              </a:lnSpc>
            </a:pPr>
            <a:r>
              <a:rPr sz="1500" b="0" i="0">
                <a:solidFill>
                  <a:srgbClr val="404040"/>
                </a:solidFill>
                <a:latin typeface="Segoe UI"/>
              </a:rPr>
              <a:t>là nơi toán tử tác động.</a:t>
            </a:r>
          </a:p>
          <a:p>
            <a:pPr algn="l">
              <a:lnSpc>
                <a:spcPct val="110000"/>
              </a:lnSpc>
            </a:pPr>
            <a:endParaRPr sz="1500" b="0" i="0">
              <a:solidFill>
                <a:srgbClr val="404040"/>
              </a:solidFill>
              <a:latin typeface="Segoe UI"/>
            </a:endParaRPr>
          </a:p>
          <a:p>
            <a:pPr algn="l">
              <a:lnSpc>
                <a:spcPct val="110000"/>
              </a:lnSpc>
            </a:pPr>
            <a:r>
              <a:rPr sz="1500" b="0" i="0">
                <a:solidFill>
                  <a:srgbClr val="404040"/>
                </a:solidFill>
                <a:latin typeface="Segoe UI"/>
              </a:rPr>
              <a:t>Đi từ dữ liệu thô lên hình ảnh trên màn hình, mỗi tầng là một không gian có thể can thiệp bằng tương tác.</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7989"/>
            <a:ext cx="11064240" cy="544765"/>
          </a:xfrm>
          <a:prstGeom prst="rect">
            <a:avLst/>
          </a:prstGeom>
          <a:noFill/>
        </p:spPr>
        <p:txBody>
          <a:bodyPr wrap="square" lIns="45720" tIns="18288" rIns="45720" bIns="18288" anchor="ctr">
            <a:spAutoFit/>
          </a:bodyPr>
          <a:lstStyle/>
          <a:p>
            <a:pPr algn="l">
              <a:lnSpc>
                <a:spcPct val="110000"/>
              </a:lnSpc>
            </a:pPr>
            <a:r>
              <a:rPr sz="3000" b="1" i="0">
                <a:solidFill>
                  <a:srgbClr val="404040"/>
                </a:solidFill>
                <a:latin typeface="Segoe UI"/>
              </a:rPr>
              <a:t>Không gian Màn hình </a:t>
            </a:r>
            <a:r>
              <a:rPr sz="3000" b="1" i="0" smtClean="0">
                <a:solidFill>
                  <a:srgbClr val="404040"/>
                </a:solidFill>
                <a:latin typeface="Segoe UI"/>
              </a:rPr>
              <a:t>vs </a:t>
            </a:r>
            <a:r>
              <a:rPr sz="3000" b="1" i="0">
                <a:solidFill>
                  <a:srgbClr val="404040"/>
                </a:solidFill>
                <a:latin typeface="Segoe UI"/>
              </a:rPr>
              <a:t>Cấu trúc Dữ liệu</a:t>
            </a:r>
          </a:p>
        </p:txBody>
      </p:sp>
      <p:sp>
        <p:nvSpPr>
          <p:cNvPr id="3" name="Rectangle 2"/>
          <p:cNvSpPr/>
          <p:nvPr/>
        </p:nvSpPr>
        <p:spPr>
          <a:xfrm>
            <a:off x="594360" y="1051560"/>
            <a:ext cx="82296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5486400" cy="274320"/>
          </a:xfrm>
          <a:prstGeom prst="rect">
            <a:avLst/>
          </a:prstGeom>
          <a:noFill/>
        </p:spPr>
        <p:txBody>
          <a:bodyPr wrap="square" lIns="45720" tIns="18288" rIns="45720" bIns="18288" anchor="t">
            <a:spAutoFit/>
          </a:bodyPr>
          <a:lstStyle/>
          <a:p>
            <a:pPr algn="l">
              <a:lnSpc>
                <a:spcPct val="110000"/>
              </a:lnSpc>
            </a:pPr>
            <a:r>
              <a:rPr sz="1000" b="0" i="0">
                <a:solidFill>
                  <a:srgbClr val="8A8A8A"/>
                </a:solidFill>
                <a:latin typeface="Segoe UI"/>
              </a:rPr>
              <a:t>Chương 11 – Các khái niệm tương tác  |  Nhóm 18</a:t>
            </a:r>
          </a:p>
        </p:txBody>
      </p:sp>
      <p:sp>
        <p:nvSpPr>
          <p:cNvPr id="5" name="TextBox 4"/>
          <p:cNvSpPr txBox="1"/>
          <p:nvPr/>
        </p:nvSpPr>
        <p:spPr>
          <a:xfrm>
            <a:off x="10972800" y="6446520"/>
            <a:ext cx="731520" cy="274320"/>
          </a:xfrm>
          <a:prstGeom prst="rect">
            <a:avLst/>
          </a:prstGeom>
          <a:noFill/>
        </p:spPr>
        <p:txBody>
          <a:bodyPr wrap="square" lIns="45720" tIns="18288" rIns="45720" bIns="18288" anchor="t">
            <a:spAutoFit/>
          </a:bodyPr>
          <a:lstStyle/>
          <a:p>
            <a:pPr algn="r">
              <a:lnSpc>
                <a:spcPct val="110000"/>
              </a:lnSpc>
            </a:pPr>
            <a:r>
              <a:rPr sz="1000" b="0" i="0">
                <a:solidFill>
                  <a:srgbClr val="8A8A8A"/>
                </a:solidFill>
                <a:latin typeface="Segoe UI"/>
              </a:rPr>
              <a:t>8</a:t>
            </a:r>
          </a:p>
        </p:txBody>
      </p:sp>
      <p:sp>
        <p:nvSpPr>
          <p:cNvPr id="6" name="TextBox 5"/>
          <p:cNvSpPr txBox="1"/>
          <p:nvPr/>
        </p:nvSpPr>
        <p:spPr>
          <a:xfrm>
            <a:off x="548640" y="1188720"/>
            <a:ext cx="11064240" cy="365760"/>
          </a:xfrm>
          <a:prstGeom prst="rect">
            <a:avLst/>
          </a:prstGeom>
          <a:noFill/>
        </p:spPr>
        <p:txBody>
          <a:bodyPr wrap="square" lIns="45720" tIns="18288" rIns="45720" bIns="18288" anchor="t">
            <a:spAutoFit/>
          </a:bodyPr>
          <a:lstStyle/>
          <a:p>
            <a:pPr algn="ctr">
              <a:lnSpc>
                <a:spcPct val="110000"/>
              </a:lnSpc>
            </a:pPr>
            <a:r>
              <a:rPr sz="1500" b="0" i="1">
                <a:solidFill>
                  <a:srgbClr val="8A8A8A"/>
                </a:solidFill>
                <a:latin typeface="Segoe UI"/>
              </a:rPr>
              <a:t>Ví dụ: thao tác thu phóng (Zoom)</a:t>
            </a:r>
          </a:p>
        </p:txBody>
      </p:sp>
      <p:sp>
        <p:nvSpPr>
          <p:cNvPr id="7" name="TextBox 6"/>
          <p:cNvSpPr txBox="1"/>
          <p:nvPr/>
        </p:nvSpPr>
        <p:spPr>
          <a:xfrm>
            <a:off x="548640" y="1600200"/>
            <a:ext cx="5212080" cy="457200"/>
          </a:xfrm>
          <a:prstGeom prst="rect">
            <a:avLst/>
          </a:prstGeom>
          <a:noFill/>
        </p:spPr>
        <p:txBody>
          <a:bodyPr wrap="square" lIns="45720" tIns="18288" rIns="45720" bIns="18288" anchor="t">
            <a:spAutoFit/>
          </a:bodyPr>
          <a:lstStyle/>
          <a:p>
            <a:pPr algn="ctr">
              <a:lnSpc>
                <a:spcPct val="110000"/>
              </a:lnSpc>
            </a:pPr>
            <a:r>
              <a:rPr sz="2000" b="1" i="0">
                <a:solidFill>
                  <a:srgbClr val="404040"/>
                </a:solidFill>
                <a:latin typeface="Segoe UI"/>
              </a:rPr>
              <a:t>Không gian Màn hình </a:t>
            </a:r>
            <a:r>
              <a:rPr sz="1500" b="0" i="0">
                <a:solidFill>
                  <a:srgbClr val="8A8A8A"/>
                </a:solidFill>
                <a:latin typeface="Segoe UI"/>
              </a:rPr>
              <a:t>(Screen Space)</a:t>
            </a:r>
          </a:p>
        </p:txBody>
      </p:sp>
      <p:pic>
        <p:nvPicPr>
          <p:cNvPr id="8" name="Picture 7" descr="ill_space_screen.png"/>
          <p:cNvPicPr>
            <a:picLocks noChangeAspect="1"/>
          </p:cNvPicPr>
          <p:nvPr/>
        </p:nvPicPr>
        <p:blipFill>
          <a:blip r:embed="rId3"/>
          <a:stretch>
            <a:fillRect/>
          </a:stretch>
        </p:blipFill>
        <p:spPr>
          <a:xfrm>
            <a:off x="777240" y="2148840"/>
            <a:ext cx="4754880" cy="3081867"/>
          </a:xfrm>
          <a:prstGeom prst="rect">
            <a:avLst/>
          </a:prstGeom>
        </p:spPr>
      </p:pic>
      <p:sp>
        <p:nvSpPr>
          <p:cNvPr id="9" name="TextBox 8"/>
          <p:cNvSpPr txBox="1"/>
          <p:nvPr/>
        </p:nvSpPr>
        <p:spPr>
          <a:xfrm>
            <a:off x="548640" y="5349240"/>
            <a:ext cx="5212080" cy="1005840"/>
          </a:xfrm>
          <a:prstGeom prst="rect">
            <a:avLst/>
          </a:prstGeom>
          <a:noFill/>
        </p:spPr>
        <p:txBody>
          <a:bodyPr wrap="square" lIns="45720" tIns="18288" rIns="45720" bIns="18288" anchor="t">
            <a:spAutoFit/>
          </a:bodyPr>
          <a:lstStyle/>
          <a:p>
            <a:pPr algn="ctr">
              <a:lnSpc>
                <a:spcPct val="110000"/>
              </a:lnSpc>
            </a:pPr>
            <a:r>
              <a:rPr sz="1500" b="0" i="0">
                <a:solidFill>
                  <a:srgbClr val="404040"/>
                </a:solidFill>
                <a:latin typeface="Segoe UI"/>
              </a:rPr>
              <a:t>Thao tác ở cấp điểm ảnh: chỉ sao chép và phóng to pixel. Không có thông tin mới.</a:t>
            </a:r>
          </a:p>
        </p:txBody>
      </p:sp>
      <p:sp>
        <p:nvSpPr>
          <p:cNvPr id="10" name="TextBox 9"/>
          <p:cNvSpPr txBox="1"/>
          <p:nvPr/>
        </p:nvSpPr>
        <p:spPr>
          <a:xfrm>
            <a:off x="6446520" y="1600200"/>
            <a:ext cx="5212080" cy="457200"/>
          </a:xfrm>
          <a:prstGeom prst="rect">
            <a:avLst/>
          </a:prstGeom>
          <a:noFill/>
        </p:spPr>
        <p:txBody>
          <a:bodyPr wrap="square" lIns="45720" tIns="18288" rIns="45720" bIns="18288" anchor="t">
            <a:spAutoFit/>
          </a:bodyPr>
          <a:lstStyle/>
          <a:p>
            <a:pPr algn="ctr">
              <a:lnSpc>
                <a:spcPct val="110000"/>
              </a:lnSpc>
            </a:pPr>
            <a:r>
              <a:rPr sz="2000" b="1" i="0">
                <a:solidFill>
                  <a:srgbClr val="404040"/>
                </a:solidFill>
                <a:latin typeface="Segoe UI"/>
              </a:rPr>
              <a:t>Không gian Cấu trúc Dữ liệu </a:t>
            </a:r>
            <a:r>
              <a:rPr sz="1500" b="0" i="0">
                <a:solidFill>
                  <a:srgbClr val="8A8A8A"/>
                </a:solidFill>
                <a:latin typeface="Segoe UI"/>
              </a:rPr>
              <a:t>(Data Structure Space)</a:t>
            </a:r>
          </a:p>
        </p:txBody>
      </p:sp>
      <p:pic>
        <p:nvPicPr>
          <p:cNvPr id="11" name="Picture 10" descr="ill_space_data.png"/>
          <p:cNvPicPr>
            <a:picLocks noChangeAspect="1"/>
          </p:cNvPicPr>
          <p:nvPr/>
        </p:nvPicPr>
        <p:blipFill>
          <a:blip r:embed="rId4"/>
          <a:stretch>
            <a:fillRect/>
          </a:stretch>
        </p:blipFill>
        <p:spPr>
          <a:xfrm>
            <a:off x="6675120" y="2148840"/>
            <a:ext cx="4754880" cy="3081867"/>
          </a:xfrm>
          <a:prstGeom prst="rect">
            <a:avLst/>
          </a:prstGeom>
        </p:spPr>
      </p:pic>
      <p:sp>
        <p:nvSpPr>
          <p:cNvPr id="12" name="TextBox 11"/>
          <p:cNvSpPr txBox="1"/>
          <p:nvPr/>
        </p:nvSpPr>
        <p:spPr>
          <a:xfrm>
            <a:off x="6446520" y="5349240"/>
            <a:ext cx="5212080" cy="1005840"/>
          </a:xfrm>
          <a:prstGeom prst="rect">
            <a:avLst/>
          </a:prstGeom>
          <a:noFill/>
        </p:spPr>
        <p:txBody>
          <a:bodyPr wrap="square" lIns="45720" tIns="18288" rIns="45720" bIns="18288" anchor="t">
            <a:spAutoFit/>
          </a:bodyPr>
          <a:lstStyle/>
          <a:p>
            <a:pPr algn="ctr">
              <a:lnSpc>
                <a:spcPct val="110000"/>
              </a:lnSpc>
            </a:pPr>
            <a:r>
              <a:rPr sz="1500" b="0" i="0">
                <a:solidFill>
                  <a:srgbClr val="404040"/>
                </a:solidFill>
                <a:latin typeface="Segoe UI"/>
              </a:rPr>
              <a:t>Thao tác trên chính dữ liệu: truy xuất hoặc lấy mẫu lại (resample) ở độ phân giải cao hơn để lộ các chi tiết thực.</a:t>
            </a:r>
          </a:p>
        </p:txBody>
      </p:sp>
      <p:sp>
        <p:nvSpPr>
          <p:cNvPr id="13" name="Rectangle 12"/>
          <p:cNvSpPr/>
          <p:nvPr/>
        </p:nvSpPr>
        <p:spPr>
          <a:xfrm>
            <a:off x="6099048" y="1645920"/>
            <a:ext cx="18288" cy="45720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7989"/>
            <a:ext cx="11064240" cy="544765"/>
          </a:xfrm>
          <a:prstGeom prst="rect">
            <a:avLst/>
          </a:prstGeom>
          <a:noFill/>
        </p:spPr>
        <p:txBody>
          <a:bodyPr wrap="square" lIns="45720" tIns="18288" rIns="45720" bIns="18288" anchor="ctr">
            <a:spAutoFit/>
          </a:bodyPr>
          <a:lstStyle/>
          <a:p>
            <a:pPr algn="l">
              <a:lnSpc>
                <a:spcPct val="110000"/>
              </a:lnSpc>
            </a:pPr>
            <a:r>
              <a:rPr sz="3000" b="1" i="0">
                <a:solidFill>
                  <a:srgbClr val="404040"/>
                </a:solidFill>
                <a:latin typeface="Segoe UI"/>
              </a:rPr>
              <a:t>Không gian Cấu trúc </a:t>
            </a:r>
            <a:r>
              <a:rPr sz="3000" b="1" i="0" smtClean="0">
                <a:solidFill>
                  <a:srgbClr val="404040"/>
                </a:solidFill>
                <a:latin typeface="Segoe UI"/>
              </a:rPr>
              <a:t>vs </a:t>
            </a:r>
            <a:r>
              <a:rPr sz="3000" b="1" i="0">
                <a:solidFill>
                  <a:srgbClr val="404040"/>
                </a:solidFill>
                <a:latin typeface="Segoe UI"/>
              </a:rPr>
              <a:t>Thuộc tính</a:t>
            </a:r>
          </a:p>
        </p:txBody>
      </p:sp>
      <p:sp>
        <p:nvSpPr>
          <p:cNvPr id="3" name="Rectangle 2"/>
          <p:cNvSpPr/>
          <p:nvPr/>
        </p:nvSpPr>
        <p:spPr>
          <a:xfrm>
            <a:off x="594360" y="1051560"/>
            <a:ext cx="82296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5486400" cy="274320"/>
          </a:xfrm>
          <a:prstGeom prst="rect">
            <a:avLst/>
          </a:prstGeom>
          <a:noFill/>
        </p:spPr>
        <p:txBody>
          <a:bodyPr wrap="square" lIns="45720" tIns="18288" rIns="45720" bIns="18288" anchor="t">
            <a:spAutoFit/>
          </a:bodyPr>
          <a:lstStyle/>
          <a:p>
            <a:pPr algn="l">
              <a:lnSpc>
                <a:spcPct val="110000"/>
              </a:lnSpc>
            </a:pPr>
            <a:r>
              <a:rPr sz="1000" b="0" i="0">
                <a:solidFill>
                  <a:srgbClr val="8A8A8A"/>
                </a:solidFill>
                <a:latin typeface="Segoe UI"/>
              </a:rPr>
              <a:t>Chương 11 – Các khái niệm tương tác  |  Nhóm 18</a:t>
            </a:r>
          </a:p>
        </p:txBody>
      </p:sp>
      <p:sp>
        <p:nvSpPr>
          <p:cNvPr id="5" name="TextBox 4"/>
          <p:cNvSpPr txBox="1"/>
          <p:nvPr/>
        </p:nvSpPr>
        <p:spPr>
          <a:xfrm>
            <a:off x="10972800" y="6446520"/>
            <a:ext cx="731520" cy="274320"/>
          </a:xfrm>
          <a:prstGeom prst="rect">
            <a:avLst/>
          </a:prstGeom>
          <a:noFill/>
        </p:spPr>
        <p:txBody>
          <a:bodyPr wrap="square" lIns="45720" tIns="18288" rIns="45720" bIns="18288" anchor="t">
            <a:spAutoFit/>
          </a:bodyPr>
          <a:lstStyle/>
          <a:p>
            <a:pPr algn="r">
              <a:lnSpc>
                <a:spcPct val="110000"/>
              </a:lnSpc>
            </a:pPr>
            <a:r>
              <a:rPr sz="1000" b="0" i="0">
                <a:solidFill>
                  <a:srgbClr val="8A8A8A"/>
                </a:solidFill>
                <a:latin typeface="Segoe UI"/>
              </a:rPr>
              <a:t>9</a:t>
            </a:r>
          </a:p>
        </p:txBody>
      </p:sp>
      <p:sp>
        <p:nvSpPr>
          <p:cNvPr id="6" name="TextBox 5"/>
          <p:cNvSpPr txBox="1"/>
          <p:nvPr/>
        </p:nvSpPr>
        <p:spPr>
          <a:xfrm>
            <a:off x="685800" y="1325880"/>
            <a:ext cx="5212080" cy="457200"/>
          </a:xfrm>
          <a:prstGeom prst="rect">
            <a:avLst/>
          </a:prstGeom>
          <a:noFill/>
        </p:spPr>
        <p:txBody>
          <a:bodyPr wrap="square" lIns="45720" tIns="18288" rIns="45720" bIns="18288" anchor="t">
            <a:spAutoFit/>
          </a:bodyPr>
          <a:lstStyle/>
          <a:p>
            <a:pPr algn="ctr">
              <a:lnSpc>
                <a:spcPct val="110000"/>
              </a:lnSpc>
            </a:pPr>
            <a:r>
              <a:rPr sz="2000" b="1" i="0">
                <a:solidFill>
                  <a:srgbClr val="404040"/>
                </a:solidFill>
                <a:latin typeface="Segoe UI"/>
              </a:rPr>
              <a:t>Không gian Cấu trúc </a:t>
            </a:r>
            <a:r>
              <a:rPr sz="1500" b="0" i="0">
                <a:solidFill>
                  <a:srgbClr val="8A8A8A"/>
                </a:solidFill>
                <a:latin typeface="Segoe UI"/>
              </a:rPr>
              <a:t>(Structure)</a:t>
            </a:r>
          </a:p>
        </p:txBody>
      </p:sp>
      <p:pic>
        <p:nvPicPr>
          <p:cNvPr id="7" name="Picture 6" descr="ill_struct.png"/>
          <p:cNvPicPr>
            <a:picLocks noChangeAspect="1"/>
          </p:cNvPicPr>
          <p:nvPr/>
        </p:nvPicPr>
        <p:blipFill>
          <a:blip r:embed="rId3"/>
          <a:stretch>
            <a:fillRect/>
          </a:stretch>
        </p:blipFill>
        <p:spPr>
          <a:xfrm>
            <a:off x="1828800" y="1828800"/>
            <a:ext cx="3200400" cy="3200400"/>
          </a:xfrm>
          <a:prstGeom prst="rect">
            <a:avLst/>
          </a:prstGeom>
        </p:spPr>
      </p:pic>
      <p:sp>
        <p:nvSpPr>
          <p:cNvPr id="8" name="TextBox 7"/>
          <p:cNvSpPr txBox="1"/>
          <p:nvPr/>
        </p:nvSpPr>
        <p:spPr>
          <a:xfrm>
            <a:off x="685800" y="5212080"/>
            <a:ext cx="5212080" cy="1097280"/>
          </a:xfrm>
          <a:prstGeom prst="rect">
            <a:avLst/>
          </a:prstGeom>
          <a:noFill/>
        </p:spPr>
        <p:txBody>
          <a:bodyPr wrap="square" lIns="45720" tIns="18288" rIns="45720" bIns="18288" anchor="t">
            <a:spAutoFit/>
          </a:bodyPr>
          <a:lstStyle/>
          <a:p>
            <a:pPr algn="ctr">
              <a:lnSpc>
                <a:spcPct val="110000"/>
              </a:lnSpc>
            </a:pPr>
            <a:r>
              <a:rPr sz="1500" b="0" i="0">
                <a:solidFill>
                  <a:srgbClr val="404040"/>
                </a:solidFill>
                <a:latin typeface="Segoe UI"/>
              </a:rPr>
              <a:t>Thao tác trên hệ phân cấp, đồ thị hoặc lưới. Ví dụ: khái quát hóa (đi lên) hoặc chi tiết hóa (đi xuống) các nhánh của cây dữ liệu.</a:t>
            </a:r>
          </a:p>
        </p:txBody>
      </p:sp>
      <p:sp>
        <p:nvSpPr>
          <p:cNvPr id="9" name="TextBox 8"/>
          <p:cNvSpPr txBox="1"/>
          <p:nvPr/>
        </p:nvSpPr>
        <p:spPr>
          <a:xfrm>
            <a:off x="6446520" y="1325880"/>
            <a:ext cx="5212080" cy="457200"/>
          </a:xfrm>
          <a:prstGeom prst="rect">
            <a:avLst/>
          </a:prstGeom>
          <a:noFill/>
        </p:spPr>
        <p:txBody>
          <a:bodyPr wrap="square" lIns="45720" tIns="18288" rIns="45720" bIns="18288" anchor="t">
            <a:spAutoFit/>
          </a:bodyPr>
          <a:lstStyle/>
          <a:p>
            <a:pPr algn="ctr">
              <a:lnSpc>
                <a:spcPct val="110000"/>
              </a:lnSpc>
            </a:pPr>
            <a:r>
              <a:rPr sz="2000" b="1" i="0">
                <a:solidFill>
                  <a:srgbClr val="404040"/>
                </a:solidFill>
                <a:latin typeface="Segoe UI"/>
              </a:rPr>
              <a:t>Không gian Thuộc tính </a:t>
            </a:r>
            <a:r>
              <a:rPr sz="1500" b="0" i="0">
                <a:solidFill>
                  <a:srgbClr val="8A8A8A"/>
                </a:solidFill>
                <a:latin typeface="Segoe UI"/>
              </a:rPr>
              <a:t>(Attribute)</a:t>
            </a:r>
          </a:p>
        </p:txBody>
      </p:sp>
      <p:pic>
        <p:nvPicPr>
          <p:cNvPr id="10" name="Picture 9" descr="ill_attr.png"/>
          <p:cNvPicPr>
            <a:picLocks noChangeAspect="1"/>
          </p:cNvPicPr>
          <p:nvPr/>
        </p:nvPicPr>
        <p:blipFill>
          <a:blip r:embed="rId4"/>
          <a:stretch>
            <a:fillRect/>
          </a:stretch>
        </p:blipFill>
        <p:spPr>
          <a:xfrm>
            <a:off x="6675120" y="2331720"/>
            <a:ext cx="4754880" cy="2641600"/>
          </a:xfrm>
          <a:prstGeom prst="rect">
            <a:avLst/>
          </a:prstGeom>
        </p:spPr>
      </p:pic>
      <p:sp>
        <p:nvSpPr>
          <p:cNvPr id="11" name="TextBox 10"/>
          <p:cNvSpPr txBox="1"/>
          <p:nvPr/>
        </p:nvSpPr>
        <p:spPr>
          <a:xfrm>
            <a:off x="6893560" y="2248408"/>
            <a:ext cx="3200400" cy="320040"/>
          </a:xfrm>
          <a:prstGeom prst="rect">
            <a:avLst/>
          </a:prstGeom>
          <a:noFill/>
        </p:spPr>
        <p:txBody>
          <a:bodyPr wrap="square" lIns="45720" tIns="18288" rIns="45720" bIns="18288" anchor="t">
            <a:spAutoFit/>
          </a:bodyPr>
          <a:lstStyle/>
          <a:p>
            <a:pPr algn="l">
              <a:lnSpc>
                <a:spcPct val="110000"/>
              </a:lnSpc>
            </a:pPr>
            <a:r>
              <a:rPr sz="1200" b="0" i="0">
                <a:solidFill>
                  <a:srgbClr val="8A8A8A"/>
                </a:solidFill>
                <a:latin typeface="Segoe UI"/>
              </a:rPr>
              <a:t>Thang màu gốc (đều)</a:t>
            </a:r>
          </a:p>
        </p:txBody>
      </p:sp>
      <p:sp>
        <p:nvSpPr>
          <p:cNvPr id="12" name="TextBox 11"/>
          <p:cNvSpPr txBox="1"/>
          <p:nvPr/>
        </p:nvSpPr>
        <p:spPr>
          <a:xfrm>
            <a:off x="6893560" y="4701709"/>
            <a:ext cx="4389120" cy="320040"/>
          </a:xfrm>
          <a:prstGeom prst="rect">
            <a:avLst/>
          </a:prstGeom>
          <a:noFill/>
        </p:spPr>
        <p:txBody>
          <a:bodyPr wrap="square" lIns="45720" tIns="18288" rIns="45720" bIns="18288" anchor="t">
            <a:spAutoFit/>
          </a:bodyPr>
          <a:lstStyle/>
          <a:p>
            <a:pPr algn="l">
              <a:lnSpc>
                <a:spcPct val="110000"/>
              </a:lnSpc>
            </a:pPr>
            <a:r>
              <a:rPr sz="1200" b="1" i="0">
                <a:solidFill>
                  <a:srgbClr val="F97316"/>
                </a:solidFill>
                <a:latin typeface="Segoe UI"/>
              </a:rPr>
              <a:t>Thang màu sau biến dạng: vùng giữa được nới rộng</a:t>
            </a:r>
          </a:p>
        </p:txBody>
      </p:sp>
      <p:sp>
        <p:nvSpPr>
          <p:cNvPr id="13" name="TextBox 12"/>
          <p:cNvSpPr txBox="1"/>
          <p:nvPr/>
        </p:nvSpPr>
        <p:spPr>
          <a:xfrm>
            <a:off x="6446520" y="5212080"/>
            <a:ext cx="5212080" cy="1097280"/>
          </a:xfrm>
          <a:prstGeom prst="rect">
            <a:avLst/>
          </a:prstGeom>
          <a:noFill/>
        </p:spPr>
        <p:txBody>
          <a:bodyPr wrap="square" lIns="45720" tIns="18288" rIns="45720" bIns="18288" anchor="t">
            <a:spAutoFit/>
          </a:bodyPr>
          <a:lstStyle/>
          <a:p>
            <a:pPr algn="ctr">
              <a:lnSpc>
                <a:spcPct val="110000"/>
              </a:lnSpc>
            </a:pPr>
            <a:r>
              <a:rPr sz="1500" b="0" i="0">
                <a:solidFill>
                  <a:srgbClr val="404040"/>
                </a:solidFill>
                <a:latin typeface="Segoe UI"/>
              </a:rPr>
              <a:t>Can thiệp vào bản đồ màu, kích thước ký hiệu. Ví dụ: dành tỷ lệ dải màu lớn hơn cho vùng giá trị cần phân tích sâu (biến dạng bản đồ màu).</a:t>
            </a:r>
          </a:p>
        </p:txBody>
      </p:sp>
      <p:sp>
        <p:nvSpPr>
          <p:cNvPr id="14" name="Rectangle 13"/>
          <p:cNvSpPr/>
          <p:nvPr/>
        </p:nvSpPr>
        <p:spPr>
          <a:xfrm>
            <a:off x="6099048" y="1371600"/>
            <a:ext cx="18288" cy="48463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7989"/>
            <a:ext cx="11064240" cy="544765"/>
          </a:xfrm>
          <a:prstGeom prst="rect">
            <a:avLst/>
          </a:prstGeom>
          <a:noFill/>
        </p:spPr>
        <p:txBody>
          <a:bodyPr wrap="square" lIns="45720" tIns="18288" rIns="45720" bIns="18288" anchor="ctr">
            <a:spAutoFit/>
          </a:bodyPr>
          <a:lstStyle/>
          <a:p>
            <a:pPr algn="l">
              <a:lnSpc>
                <a:spcPct val="110000"/>
              </a:lnSpc>
            </a:pPr>
            <a:r>
              <a:rPr sz="3000" b="1" i="0">
                <a:solidFill>
                  <a:srgbClr val="404040"/>
                </a:solidFill>
                <a:latin typeface="Segoe UI"/>
              </a:rPr>
              <a:t>Không gian Đối tượng </a:t>
            </a:r>
            <a:r>
              <a:rPr sz="3000" b="1" i="0" smtClean="0">
                <a:solidFill>
                  <a:srgbClr val="404040"/>
                </a:solidFill>
                <a:latin typeface="Segoe UI"/>
              </a:rPr>
              <a:t>vs</a:t>
            </a:r>
            <a:r>
              <a:rPr lang="vi-VN" sz="3000" b="1" i="0" smtClean="0">
                <a:solidFill>
                  <a:srgbClr val="404040"/>
                </a:solidFill>
                <a:latin typeface="Segoe UI"/>
              </a:rPr>
              <a:t> </a:t>
            </a:r>
            <a:r>
              <a:rPr sz="3000" b="1" i="0" smtClean="0">
                <a:solidFill>
                  <a:srgbClr val="404040"/>
                </a:solidFill>
                <a:latin typeface="Segoe UI"/>
              </a:rPr>
              <a:t>Cấu </a:t>
            </a:r>
            <a:r>
              <a:rPr sz="3000" b="1" i="0">
                <a:solidFill>
                  <a:srgbClr val="404040"/>
                </a:solidFill>
                <a:latin typeface="Segoe UI"/>
              </a:rPr>
              <a:t>trúc Trực quan</a:t>
            </a:r>
          </a:p>
        </p:txBody>
      </p:sp>
      <p:sp>
        <p:nvSpPr>
          <p:cNvPr id="3" name="Rectangle 2"/>
          <p:cNvSpPr/>
          <p:nvPr/>
        </p:nvSpPr>
        <p:spPr>
          <a:xfrm>
            <a:off x="594360" y="1051560"/>
            <a:ext cx="82296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5486400" cy="274320"/>
          </a:xfrm>
          <a:prstGeom prst="rect">
            <a:avLst/>
          </a:prstGeom>
          <a:noFill/>
        </p:spPr>
        <p:txBody>
          <a:bodyPr wrap="square" lIns="45720" tIns="18288" rIns="45720" bIns="18288" anchor="t">
            <a:spAutoFit/>
          </a:bodyPr>
          <a:lstStyle/>
          <a:p>
            <a:pPr algn="l">
              <a:lnSpc>
                <a:spcPct val="110000"/>
              </a:lnSpc>
            </a:pPr>
            <a:r>
              <a:rPr sz="1000" b="0" i="0">
                <a:solidFill>
                  <a:srgbClr val="8A8A8A"/>
                </a:solidFill>
                <a:latin typeface="Segoe UI"/>
              </a:rPr>
              <a:t>Chương 11 – Các khái niệm tương tác  |  Nhóm 18</a:t>
            </a:r>
          </a:p>
        </p:txBody>
      </p:sp>
      <p:sp>
        <p:nvSpPr>
          <p:cNvPr id="5" name="TextBox 4"/>
          <p:cNvSpPr txBox="1"/>
          <p:nvPr/>
        </p:nvSpPr>
        <p:spPr>
          <a:xfrm>
            <a:off x="10972800" y="6446520"/>
            <a:ext cx="731520" cy="274320"/>
          </a:xfrm>
          <a:prstGeom prst="rect">
            <a:avLst/>
          </a:prstGeom>
          <a:noFill/>
        </p:spPr>
        <p:txBody>
          <a:bodyPr wrap="square" lIns="45720" tIns="18288" rIns="45720" bIns="18288" anchor="t">
            <a:spAutoFit/>
          </a:bodyPr>
          <a:lstStyle/>
          <a:p>
            <a:pPr algn="r">
              <a:lnSpc>
                <a:spcPct val="110000"/>
              </a:lnSpc>
            </a:pPr>
            <a:r>
              <a:rPr sz="1000" b="0" i="0">
                <a:solidFill>
                  <a:srgbClr val="8A8A8A"/>
                </a:solidFill>
                <a:latin typeface="Segoe UI"/>
              </a:rPr>
              <a:t>10</a:t>
            </a:r>
          </a:p>
        </p:txBody>
      </p:sp>
      <p:sp>
        <p:nvSpPr>
          <p:cNvPr id="6" name="TextBox 5"/>
          <p:cNvSpPr txBox="1"/>
          <p:nvPr/>
        </p:nvSpPr>
        <p:spPr>
          <a:xfrm>
            <a:off x="548640" y="1325880"/>
            <a:ext cx="5212080" cy="457200"/>
          </a:xfrm>
          <a:prstGeom prst="rect">
            <a:avLst/>
          </a:prstGeom>
          <a:noFill/>
        </p:spPr>
        <p:txBody>
          <a:bodyPr wrap="square" lIns="45720" tIns="18288" rIns="45720" bIns="18288" anchor="t">
            <a:spAutoFit/>
          </a:bodyPr>
          <a:lstStyle/>
          <a:p>
            <a:pPr algn="ctr">
              <a:lnSpc>
                <a:spcPct val="110000"/>
              </a:lnSpc>
            </a:pPr>
            <a:r>
              <a:rPr sz="2000" b="1" i="0">
                <a:solidFill>
                  <a:srgbClr val="404040"/>
                </a:solidFill>
                <a:latin typeface="Segoe UI"/>
              </a:rPr>
              <a:t>Không gian Đối tượng </a:t>
            </a:r>
            <a:r>
              <a:rPr sz="1400" b="0" i="0">
                <a:solidFill>
                  <a:srgbClr val="8A8A8A"/>
                </a:solidFill>
                <a:latin typeface="Segoe UI"/>
              </a:rPr>
              <a:t>(Object Space)</a:t>
            </a:r>
          </a:p>
        </p:txBody>
      </p:sp>
      <p:pic>
        <p:nvPicPr>
          <p:cNvPr id="7" name="Picture 6" descr="ill_object.png"/>
          <p:cNvPicPr>
            <a:picLocks noChangeAspect="1"/>
          </p:cNvPicPr>
          <p:nvPr/>
        </p:nvPicPr>
        <p:blipFill>
          <a:blip r:embed="rId3"/>
          <a:stretch>
            <a:fillRect/>
          </a:stretch>
        </p:blipFill>
        <p:spPr>
          <a:xfrm>
            <a:off x="777240" y="2011680"/>
            <a:ext cx="4754880" cy="2547257"/>
          </a:xfrm>
          <a:prstGeom prst="rect">
            <a:avLst/>
          </a:prstGeom>
        </p:spPr>
      </p:pic>
      <p:sp>
        <p:nvSpPr>
          <p:cNvPr id="8" name="TextBox 7"/>
          <p:cNvSpPr txBox="1"/>
          <p:nvPr/>
        </p:nvSpPr>
        <p:spPr>
          <a:xfrm>
            <a:off x="1459774" y="4590288"/>
            <a:ext cx="1097280" cy="320040"/>
          </a:xfrm>
          <a:prstGeom prst="rect">
            <a:avLst/>
          </a:prstGeom>
          <a:noFill/>
        </p:spPr>
        <p:txBody>
          <a:bodyPr wrap="square" lIns="45720" tIns="18288" rIns="45720" bIns="18288" anchor="t">
            <a:spAutoFit/>
          </a:bodyPr>
          <a:lstStyle/>
          <a:p>
            <a:pPr algn="ctr">
              <a:lnSpc>
                <a:spcPct val="110000"/>
              </a:lnSpc>
            </a:pPr>
            <a:r>
              <a:rPr sz="1200" b="0" i="0">
                <a:solidFill>
                  <a:srgbClr val="8A8A8A"/>
                </a:solidFill>
                <a:latin typeface="Segoe UI"/>
              </a:rPr>
              <a:t>Trước</a:t>
            </a:r>
          </a:p>
        </p:txBody>
      </p:sp>
      <p:sp>
        <p:nvSpPr>
          <p:cNvPr id="9" name="TextBox 8"/>
          <p:cNvSpPr txBox="1"/>
          <p:nvPr/>
        </p:nvSpPr>
        <p:spPr>
          <a:xfrm>
            <a:off x="3752305" y="4590288"/>
            <a:ext cx="1097280" cy="320040"/>
          </a:xfrm>
          <a:prstGeom prst="rect">
            <a:avLst/>
          </a:prstGeom>
          <a:noFill/>
        </p:spPr>
        <p:txBody>
          <a:bodyPr wrap="square" lIns="45720" tIns="18288" rIns="45720" bIns="18288" anchor="t">
            <a:spAutoFit/>
          </a:bodyPr>
          <a:lstStyle/>
          <a:p>
            <a:pPr algn="ctr">
              <a:lnSpc>
                <a:spcPct val="110000"/>
              </a:lnSpc>
            </a:pPr>
            <a:r>
              <a:rPr sz="1200" b="0" i="0">
                <a:solidFill>
                  <a:srgbClr val="8A8A8A"/>
                </a:solidFill>
                <a:latin typeface="Segoe UI"/>
              </a:rPr>
              <a:t>Sau</a:t>
            </a:r>
          </a:p>
        </p:txBody>
      </p:sp>
      <p:sp>
        <p:nvSpPr>
          <p:cNvPr id="10" name="TextBox 9"/>
          <p:cNvSpPr txBox="1"/>
          <p:nvPr/>
        </p:nvSpPr>
        <p:spPr>
          <a:xfrm>
            <a:off x="548640" y="5029200"/>
            <a:ext cx="5212080" cy="1188720"/>
          </a:xfrm>
          <a:prstGeom prst="rect">
            <a:avLst/>
          </a:prstGeom>
          <a:noFill/>
        </p:spPr>
        <p:txBody>
          <a:bodyPr wrap="square" lIns="45720" tIns="18288" rIns="45720" bIns="18288" anchor="t">
            <a:spAutoFit/>
          </a:bodyPr>
          <a:lstStyle/>
          <a:p>
            <a:pPr algn="ctr">
              <a:lnSpc>
                <a:spcPct val="110000"/>
              </a:lnSpc>
            </a:pPr>
            <a:r>
              <a:rPr sz="1500" b="0" i="0">
                <a:solidFill>
                  <a:srgbClr val="404040"/>
                </a:solidFill>
                <a:latin typeface="Segoe UI"/>
              </a:rPr>
              <a:t>Biến dạng bề mặt hình học mà dữ liệu được chiếu lên: phóng to một vùng trong không gian, thu nhỏ vùng khác.</a:t>
            </a:r>
          </a:p>
        </p:txBody>
      </p:sp>
      <p:sp>
        <p:nvSpPr>
          <p:cNvPr id="11" name="TextBox 10"/>
          <p:cNvSpPr txBox="1"/>
          <p:nvPr/>
        </p:nvSpPr>
        <p:spPr>
          <a:xfrm>
            <a:off x="6446520" y="1325880"/>
            <a:ext cx="5212080" cy="457200"/>
          </a:xfrm>
          <a:prstGeom prst="rect">
            <a:avLst/>
          </a:prstGeom>
          <a:noFill/>
        </p:spPr>
        <p:txBody>
          <a:bodyPr wrap="square" lIns="45720" tIns="18288" rIns="45720" bIns="18288" anchor="t">
            <a:spAutoFit/>
          </a:bodyPr>
          <a:lstStyle/>
          <a:p>
            <a:pPr algn="ctr">
              <a:lnSpc>
                <a:spcPct val="110000"/>
              </a:lnSpc>
            </a:pPr>
            <a:r>
              <a:rPr sz="2000" b="1" i="0">
                <a:solidFill>
                  <a:srgbClr val="404040"/>
                </a:solidFill>
                <a:latin typeface="Segoe UI"/>
              </a:rPr>
              <a:t>Không gian Cấu trúc Trực quan </a:t>
            </a:r>
            <a:r>
              <a:rPr sz="1400" b="0" i="0">
                <a:solidFill>
                  <a:srgbClr val="8A8A8A"/>
                </a:solidFill>
                <a:latin typeface="Segoe UI"/>
              </a:rPr>
              <a:t>(Viz Structure)</a:t>
            </a:r>
          </a:p>
        </p:txBody>
      </p:sp>
      <p:pic>
        <p:nvPicPr>
          <p:cNvPr id="12" name="Picture 11" descr="ill_vizs.png"/>
          <p:cNvPicPr>
            <a:picLocks noChangeAspect="1"/>
          </p:cNvPicPr>
          <p:nvPr/>
        </p:nvPicPr>
        <p:blipFill>
          <a:blip r:embed="rId4"/>
          <a:stretch>
            <a:fillRect/>
          </a:stretch>
        </p:blipFill>
        <p:spPr>
          <a:xfrm>
            <a:off x="6675120" y="2011680"/>
            <a:ext cx="4754880" cy="2547257"/>
          </a:xfrm>
          <a:prstGeom prst="rect">
            <a:avLst/>
          </a:prstGeom>
        </p:spPr>
      </p:pic>
      <p:sp>
        <p:nvSpPr>
          <p:cNvPr id="13" name="TextBox 12"/>
          <p:cNvSpPr txBox="1"/>
          <p:nvPr/>
        </p:nvSpPr>
        <p:spPr>
          <a:xfrm>
            <a:off x="7315200" y="4590288"/>
            <a:ext cx="1097280" cy="320040"/>
          </a:xfrm>
          <a:prstGeom prst="rect">
            <a:avLst/>
          </a:prstGeom>
          <a:noFill/>
        </p:spPr>
        <p:txBody>
          <a:bodyPr wrap="square" lIns="45720" tIns="18288" rIns="45720" bIns="18288" anchor="t">
            <a:spAutoFit/>
          </a:bodyPr>
          <a:lstStyle/>
          <a:p>
            <a:pPr algn="ctr">
              <a:lnSpc>
                <a:spcPct val="110000"/>
              </a:lnSpc>
            </a:pPr>
            <a:r>
              <a:rPr sz="1200" b="0" i="0">
                <a:solidFill>
                  <a:srgbClr val="8A8A8A"/>
                </a:solidFill>
                <a:latin typeface="Segoe UI"/>
              </a:rPr>
              <a:t>Trước</a:t>
            </a:r>
          </a:p>
        </p:txBody>
      </p:sp>
      <p:sp>
        <p:nvSpPr>
          <p:cNvPr id="14" name="TextBox 13"/>
          <p:cNvSpPr txBox="1"/>
          <p:nvPr/>
        </p:nvSpPr>
        <p:spPr>
          <a:xfrm>
            <a:off x="9947365" y="4590288"/>
            <a:ext cx="1097280" cy="320040"/>
          </a:xfrm>
          <a:prstGeom prst="rect">
            <a:avLst/>
          </a:prstGeom>
          <a:noFill/>
        </p:spPr>
        <p:txBody>
          <a:bodyPr wrap="square" lIns="45720" tIns="18288" rIns="45720" bIns="18288" anchor="t">
            <a:spAutoFit/>
          </a:bodyPr>
          <a:lstStyle/>
          <a:p>
            <a:pPr algn="ctr">
              <a:lnSpc>
                <a:spcPct val="110000"/>
              </a:lnSpc>
            </a:pPr>
            <a:r>
              <a:rPr sz="1200" b="0" i="0">
                <a:solidFill>
                  <a:srgbClr val="8A8A8A"/>
                </a:solidFill>
                <a:latin typeface="Segoe UI"/>
              </a:rPr>
              <a:t>Sau</a:t>
            </a:r>
          </a:p>
        </p:txBody>
      </p:sp>
      <p:sp>
        <p:nvSpPr>
          <p:cNvPr id="15" name="TextBox 14"/>
          <p:cNvSpPr txBox="1"/>
          <p:nvPr/>
        </p:nvSpPr>
        <p:spPr>
          <a:xfrm>
            <a:off x="6446520" y="5029200"/>
            <a:ext cx="5212080" cy="1188720"/>
          </a:xfrm>
          <a:prstGeom prst="rect">
            <a:avLst/>
          </a:prstGeom>
          <a:noFill/>
        </p:spPr>
        <p:txBody>
          <a:bodyPr wrap="square" lIns="45720" tIns="18288" rIns="45720" bIns="18288" anchor="t">
            <a:spAutoFit/>
          </a:bodyPr>
          <a:lstStyle/>
          <a:p>
            <a:pPr algn="ctr">
              <a:lnSpc>
                <a:spcPct val="110000"/>
              </a:lnSpc>
            </a:pPr>
            <a:r>
              <a:rPr sz="1500" b="0" i="0">
                <a:solidFill>
                  <a:srgbClr val="404040"/>
                </a:solidFill>
                <a:latin typeface="Segoe UI"/>
              </a:rPr>
              <a:t>Sửa đổi các phần tử nền tảng (trục tọa độ, lưới hiển thị, kích thước ô) độc lập với giá trị dữ liệu thực tế.</a:t>
            </a:r>
          </a:p>
        </p:txBody>
      </p:sp>
      <p:sp>
        <p:nvSpPr>
          <p:cNvPr id="16" name="Rectangle 15"/>
          <p:cNvSpPr/>
          <p:nvPr/>
        </p:nvSpPr>
        <p:spPr>
          <a:xfrm>
            <a:off x="6099048" y="1371600"/>
            <a:ext cx="18288" cy="48463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tIns="18288" rIns="45720" bIns="18288" anchor="ctr">
            <a:spAutoFit/>
          </a:bodyPr>
          <a:lstStyle/>
          <a:p>
            <a:pPr algn="l">
              <a:lnSpc>
                <a:spcPct val="110000"/>
              </a:lnSpc>
            </a:pPr>
            <a:r>
              <a:rPr sz="3000" b="1" i="0">
                <a:solidFill>
                  <a:srgbClr val="404040"/>
                </a:solidFill>
                <a:latin typeface="Segoe UI"/>
              </a:rPr>
              <a:t>Khuôn khổ Thống nhất: 4 Tham số của Tương tác</a:t>
            </a:r>
          </a:p>
        </p:txBody>
      </p:sp>
      <p:sp>
        <p:nvSpPr>
          <p:cNvPr id="3" name="Rectangle 2"/>
          <p:cNvSpPr/>
          <p:nvPr/>
        </p:nvSpPr>
        <p:spPr>
          <a:xfrm>
            <a:off x="594360" y="1051560"/>
            <a:ext cx="82296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5486400" cy="274320"/>
          </a:xfrm>
          <a:prstGeom prst="rect">
            <a:avLst/>
          </a:prstGeom>
          <a:noFill/>
        </p:spPr>
        <p:txBody>
          <a:bodyPr wrap="square" lIns="45720" tIns="18288" rIns="45720" bIns="18288" anchor="t">
            <a:spAutoFit/>
          </a:bodyPr>
          <a:lstStyle/>
          <a:p>
            <a:pPr algn="l">
              <a:lnSpc>
                <a:spcPct val="110000"/>
              </a:lnSpc>
            </a:pPr>
            <a:r>
              <a:rPr sz="1000" b="0" i="0">
                <a:solidFill>
                  <a:srgbClr val="8A8A8A"/>
                </a:solidFill>
                <a:latin typeface="Segoe UI"/>
              </a:rPr>
              <a:t>Chương 11 – Các khái niệm tương tác  |  Nhóm 18</a:t>
            </a:r>
          </a:p>
        </p:txBody>
      </p:sp>
      <p:sp>
        <p:nvSpPr>
          <p:cNvPr id="5" name="TextBox 4"/>
          <p:cNvSpPr txBox="1"/>
          <p:nvPr/>
        </p:nvSpPr>
        <p:spPr>
          <a:xfrm>
            <a:off x="10972800" y="6446520"/>
            <a:ext cx="731520" cy="274320"/>
          </a:xfrm>
          <a:prstGeom prst="rect">
            <a:avLst/>
          </a:prstGeom>
          <a:noFill/>
        </p:spPr>
        <p:txBody>
          <a:bodyPr wrap="square" lIns="45720" tIns="18288" rIns="45720" bIns="18288" anchor="t">
            <a:spAutoFit/>
          </a:bodyPr>
          <a:lstStyle/>
          <a:p>
            <a:pPr algn="r">
              <a:lnSpc>
                <a:spcPct val="110000"/>
              </a:lnSpc>
            </a:pPr>
            <a:r>
              <a:rPr sz="1000" b="0" i="0">
                <a:solidFill>
                  <a:srgbClr val="8A8A8A"/>
                </a:solidFill>
                <a:latin typeface="Segoe UI"/>
              </a:rPr>
              <a:t>11</a:t>
            </a:r>
          </a:p>
        </p:txBody>
      </p:sp>
      <p:pic>
        <p:nvPicPr>
          <p:cNvPr id="6" name="Picture 5" descr="ill_params.png"/>
          <p:cNvPicPr>
            <a:picLocks noChangeAspect="1"/>
          </p:cNvPicPr>
          <p:nvPr/>
        </p:nvPicPr>
        <p:blipFill>
          <a:blip r:embed="rId3"/>
          <a:stretch>
            <a:fillRect/>
          </a:stretch>
        </p:blipFill>
        <p:spPr>
          <a:xfrm>
            <a:off x="3721608" y="1417320"/>
            <a:ext cx="4754880" cy="4206240"/>
          </a:xfrm>
          <a:prstGeom prst="rect">
            <a:avLst/>
          </a:prstGeom>
        </p:spPr>
      </p:pic>
      <p:sp>
        <p:nvSpPr>
          <p:cNvPr id="7" name="TextBox 6"/>
          <p:cNvSpPr txBox="1"/>
          <p:nvPr/>
        </p:nvSpPr>
        <p:spPr>
          <a:xfrm>
            <a:off x="457200" y="2057399"/>
            <a:ext cx="3108960" cy="914400"/>
          </a:xfrm>
          <a:prstGeom prst="rect">
            <a:avLst/>
          </a:prstGeom>
          <a:noFill/>
        </p:spPr>
        <p:txBody>
          <a:bodyPr wrap="square" lIns="45720" tIns="18288" rIns="45720" bIns="18288" anchor="ctr">
            <a:spAutoFit/>
          </a:bodyPr>
          <a:lstStyle/>
          <a:p>
            <a:pPr algn="r">
              <a:lnSpc>
                <a:spcPct val="110000"/>
              </a:lnSpc>
            </a:pPr>
            <a:r>
              <a:rPr sz="1600" b="1" i="0">
                <a:solidFill>
                  <a:srgbClr val="404040"/>
                </a:solidFill>
                <a:latin typeface="Segoe UI"/>
              </a:rPr>
              <a:t>Phạm vi (Extent)</a:t>
            </a:r>
          </a:p>
          <a:p>
            <a:pPr algn="r">
              <a:lnSpc>
                <a:spcPct val="110000"/>
              </a:lnSpc>
            </a:pPr>
            <a:r>
              <a:rPr sz="1300" b="0" i="0">
                <a:solidFill>
                  <a:srgbClr val="8A8A8A"/>
                </a:solidFill>
                <a:latin typeface="Segoe UI"/>
              </a:rPr>
              <a:t>Ranh giới miền không gian chịu tác động.</a:t>
            </a:r>
          </a:p>
        </p:txBody>
      </p:sp>
      <p:sp>
        <p:nvSpPr>
          <p:cNvPr id="8" name="Rectangle 7"/>
          <p:cNvSpPr/>
          <p:nvPr/>
        </p:nvSpPr>
        <p:spPr>
          <a:xfrm>
            <a:off x="3611880" y="2514599"/>
            <a:ext cx="1481328" cy="109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047488" y="2468879"/>
            <a:ext cx="91440" cy="91440"/>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063239"/>
            <a:ext cx="3108960" cy="914400"/>
          </a:xfrm>
          <a:prstGeom prst="rect">
            <a:avLst/>
          </a:prstGeom>
          <a:noFill/>
        </p:spPr>
        <p:txBody>
          <a:bodyPr wrap="square" lIns="45720" tIns="18288" rIns="45720" bIns="18288" anchor="ctr">
            <a:spAutoFit/>
          </a:bodyPr>
          <a:lstStyle/>
          <a:p>
            <a:pPr algn="r">
              <a:lnSpc>
                <a:spcPct val="110000"/>
              </a:lnSpc>
            </a:pPr>
            <a:r>
              <a:rPr sz="1600" b="1" i="0">
                <a:solidFill>
                  <a:srgbClr val="404040"/>
                </a:solidFill>
                <a:latin typeface="Segoe UI"/>
              </a:rPr>
              <a:t>Tiêu điểm (Focus)</a:t>
            </a:r>
          </a:p>
          <a:p>
            <a:pPr algn="r">
              <a:lnSpc>
                <a:spcPct val="110000"/>
              </a:lnSpc>
            </a:pPr>
            <a:r>
              <a:rPr sz="1300" b="0" i="0">
                <a:solidFill>
                  <a:srgbClr val="8A8A8A"/>
                </a:solidFill>
                <a:latin typeface="Segoe UI"/>
              </a:rPr>
              <a:t>Vị trí trung tâm của sự chú ý.</a:t>
            </a:r>
          </a:p>
        </p:txBody>
      </p:sp>
      <p:sp>
        <p:nvSpPr>
          <p:cNvPr id="11" name="Rectangle 10"/>
          <p:cNvSpPr/>
          <p:nvPr/>
        </p:nvSpPr>
        <p:spPr>
          <a:xfrm>
            <a:off x="3611880" y="3520439"/>
            <a:ext cx="2487168" cy="109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053328" y="3474720"/>
            <a:ext cx="91440" cy="91440"/>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4251959"/>
            <a:ext cx="3108960" cy="914400"/>
          </a:xfrm>
          <a:prstGeom prst="rect">
            <a:avLst/>
          </a:prstGeom>
          <a:noFill/>
        </p:spPr>
        <p:txBody>
          <a:bodyPr wrap="square" lIns="45720" tIns="18288" rIns="45720" bIns="18288" anchor="ctr">
            <a:spAutoFit/>
          </a:bodyPr>
          <a:lstStyle/>
          <a:p>
            <a:pPr algn="r">
              <a:lnSpc>
                <a:spcPct val="110000"/>
              </a:lnSpc>
            </a:pPr>
            <a:r>
              <a:rPr sz="1600" b="1" i="0">
                <a:solidFill>
                  <a:srgbClr val="404040"/>
                </a:solidFill>
                <a:latin typeface="Segoe UI"/>
              </a:rPr>
              <a:t>Phép biến đổi (Transformation)</a:t>
            </a:r>
          </a:p>
          <a:p>
            <a:pPr algn="r">
              <a:lnSpc>
                <a:spcPct val="110000"/>
              </a:lnSpc>
            </a:pPr>
            <a:r>
              <a:rPr sz="1300" b="0" i="0">
                <a:solidFill>
                  <a:srgbClr val="8A8A8A"/>
                </a:solidFill>
                <a:latin typeface="Segoe UI"/>
              </a:rPr>
              <a:t>Hàm số tác động lên các thực thể trong phạm vi.</a:t>
            </a:r>
          </a:p>
        </p:txBody>
      </p:sp>
      <p:sp>
        <p:nvSpPr>
          <p:cNvPr id="14" name="Rectangle 13"/>
          <p:cNvSpPr/>
          <p:nvPr/>
        </p:nvSpPr>
        <p:spPr>
          <a:xfrm>
            <a:off x="3611880" y="4709159"/>
            <a:ext cx="1938528" cy="109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504688" y="4663440"/>
            <a:ext cx="91440" cy="91440"/>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516368" y="3520439"/>
            <a:ext cx="1078991" cy="1097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470648" y="3474720"/>
            <a:ext cx="91440" cy="91440"/>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41080" y="3063239"/>
            <a:ext cx="3108960" cy="914400"/>
          </a:xfrm>
          <a:prstGeom prst="rect">
            <a:avLst/>
          </a:prstGeom>
          <a:noFill/>
        </p:spPr>
        <p:txBody>
          <a:bodyPr wrap="square" lIns="45720" tIns="18288" rIns="45720" bIns="18288" anchor="ctr">
            <a:spAutoFit/>
          </a:bodyPr>
          <a:lstStyle/>
          <a:p>
            <a:pPr algn="l">
              <a:lnSpc>
                <a:spcPct val="110000"/>
              </a:lnSpc>
            </a:pPr>
            <a:r>
              <a:rPr sz="1600" b="1" i="0">
                <a:solidFill>
                  <a:srgbClr val="404040"/>
                </a:solidFill>
                <a:latin typeface="Segoe UI"/>
              </a:rPr>
              <a:t>Bộ hòa trộn (Blender)</a:t>
            </a:r>
          </a:p>
          <a:p>
            <a:pPr algn="l">
              <a:lnSpc>
                <a:spcPct val="110000"/>
              </a:lnSpc>
            </a:pPr>
            <a:r>
              <a:rPr sz="1300" b="0" i="0">
                <a:solidFill>
                  <a:srgbClr val="8A8A8A"/>
                </a:solidFill>
                <a:latin typeface="Segoe UI"/>
              </a:rPr>
              <a:t>Cách xử lý phần không gian bị nhiều hơn một tương tác chồng lên nhau.</a:t>
            </a:r>
          </a:p>
        </p:txBody>
      </p:sp>
      <p:sp>
        <p:nvSpPr>
          <p:cNvPr id="19" name="TextBox 18"/>
          <p:cNvSpPr txBox="1"/>
          <p:nvPr/>
        </p:nvSpPr>
        <p:spPr>
          <a:xfrm>
            <a:off x="548640" y="5852160"/>
            <a:ext cx="11064240" cy="457200"/>
          </a:xfrm>
          <a:prstGeom prst="rect">
            <a:avLst/>
          </a:prstGeom>
          <a:noFill/>
        </p:spPr>
        <p:txBody>
          <a:bodyPr wrap="square" lIns="45720" tIns="18288" rIns="45720" bIns="18288" anchor="t">
            <a:spAutoFit/>
          </a:bodyPr>
          <a:lstStyle/>
          <a:p>
            <a:pPr algn="ctr">
              <a:lnSpc>
                <a:spcPct val="110000"/>
              </a:lnSpc>
            </a:pPr>
            <a:r>
              <a:rPr sz="1300" b="0" i="1">
                <a:solidFill>
                  <a:srgbClr val="8A8A8A"/>
                </a:solidFill>
                <a:latin typeface="Segoe UI"/>
              </a:rPr>
              <a:t>Ví dụ kính lúp (fisheye): Phạm vi = vùng kính; Tiêu điểm = tâm kính; Biến đổi = hàm phóng đại; Bộ hòa trộn = cách xử lý chỗ hai kính chồng nhau.</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tIns="18288" rIns="45720" bIns="18288" anchor="ctr">
            <a:spAutoFit/>
          </a:bodyPr>
          <a:lstStyle/>
          <a:p>
            <a:pPr algn="l">
              <a:lnSpc>
                <a:spcPct val="110000"/>
              </a:lnSpc>
            </a:pPr>
            <a:r>
              <a:rPr sz="3000" b="1" i="0">
                <a:solidFill>
                  <a:srgbClr val="404040"/>
                </a:solidFill>
                <a:latin typeface="Segoe UI"/>
              </a:rPr>
              <a:t>Quy trình Xử lý Biến dạng (Pipeline Thống nhất)</a:t>
            </a:r>
          </a:p>
        </p:txBody>
      </p:sp>
      <p:sp>
        <p:nvSpPr>
          <p:cNvPr id="3" name="Rectangle 2"/>
          <p:cNvSpPr/>
          <p:nvPr/>
        </p:nvSpPr>
        <p:spPr>
          <a:xfrm>
            <a:off x="594360" y="1051560"/>
            <a:ext cx="82296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5486400" cy="274320"/>
          </a:xfrm>
          <a:prstGeom prst="rect">
            <a:avLst/>
          </a:prstGeom>
          <a:noFill/>
        </p:spPr>
        <p:txBody>
          <a:bodyPr wrap="square" lIns="45720" tIns="18288" rIns="45720" bIns="18288" anchor="t">
            <a:spAutoFit/>
          </a:bodyPr>
          <a:lstStyle/>
          <a:p>
            <a:pPr algn="l">
              <a:lnSpc>
                <a:spcPct val="110000"/>
              </a:lnSpc>
            </a:pPr>
            <a:r>
              <a:rPr sz="1000" b="0" i="0">
                <a:solidFill>
                  <a:srgbClr val="8A8A8A"/>
                </a:solidFill>
                <a:latin typeface="Segoe UI"/>
              </a:rPr>
              <a:t>Chương 11 – Các khái niệm tương tác  |  Nhóm 18</a:t>
            </a:r>
          </a:p>
        </p:txBody>
      </p:sp>
      <p:sp>
        <p:nvSpPr>
          <p:cNvPr id="5" name="TextBox 4"/>
          <p:cNvSpPr txBox="1"/>
          <p:nvPr/>
        </p:nvSpPr>
        <p:spPr>
          <a:xfrm>
            <a:off x="10972800" y="6446520"/>
            <a:ext cx="731520" cy="274320"/>
          </a:xfrm>
          <a:prstGeom prst="rect">
            <a:avLst/>
          </a:prstGeom>
          <a:noFill/>
        </p:spPr>
        <p:txBody>
          <a:bodyPr wrap="square" lIns="45720" tIns="18288" rIns="45720" bIns="18288" anchor="t">
            <a:spAutoFit/>
          </a:bodyPr>
          <a:lstStyle/>
          <a:p>
            <a:pPr algn="r">
              <a:lnSpc>
                <a:spcPct val="110000"/>
              </a:lnSpc>
            </a:pPr>
            <a:r>
              <a:rPr sz="1000" b="0" i="0">
                <a:solidFill>
                  <a:srgbClr val="8A8A8A"/>
                </a:solidFill>
                <a:latin typeface="Segoe UI"/>
              </a:rPr>
              <a:t>12</a:t>
            </a:r>
          </a:p>
        </p:txBody>
      </p:sp>
      <p:sp>
        <p:nvSpPr>
          <p:cNvPr id="6" name="TextBox 5"/>
          <p:cNvSpPr txBox="1"/>
          <p:nvPr/>
        </p:nvSpPr>
        <p:spPr>
          <a:xfrm>
            <a:off x="548640" y="1234440"/>
            <a:ext cx="7315200" cy="320040"/>
          </a:xfrm>
          <a:prstGeom prst="rect">
            <a:avLst/>
          </a:prstGeom>
          <a:noFill/>
        </p:spPr>
        <p:txBody>
          <a:bodyPr wrap="square" lIns="45720" tIns="18288" rIns="45720" bIns="18288" anchor="t">
            <a:spAutoFit/>
          </a:bodyPr>
          <a:lstStyle/>
          <a:p>
            <a:pPr algn="l">
              <a:lnSpc>
                <a:spcPct val="110000"/>
              </a:lnSpc>
            </a:pPr>
            <a:r>
              <a:rPr sz="1300" b="1" i="0">
                <a:solidFill>
                  <a:srgbClr val="F97316"/>
                </a:solidFill>
                <a:latin typeface="Segoe UI"/>
              </a:rPr>
              <a:t>NỬA ĐẦU VÀO – Kiểm soát dữ liệu và cấu trúc trước khi vẽ</a:t>
            </a:r>
          </a:p>
        </p:txBody>
      </p:sp>
      <p:sp>
        <p:nvSpPr>
          <p:cNvPr id="7" name="Rounded Rectangle 6"/>
          <p:cNvSpPr/>
          <p:nvPr/>
        </p:nvSpPr>
        <p:spPr>
          <a:xfrm>
            <a:off x="548640" y="1600200"/>
            <a:ext cx="3108960" cy="868680"/>
          </a:xfrm>
          <a:prstGeom prst="roundRect">
            <a:avLst>
              <a:gd name="adj" fmla="val 12000"/>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600200"/>
            <a:ext cx="3017520" cy="868680"/>
          </a:xfrm>
          <a:prstGeom prst="rect">
            <a:avLst/>
          </a:prstGeom>
          <a:noFill/>
        </p:spPr>
        <p:txBody>
          <a:bodyPr wrap="square" lIns="45720" tIns="18288" rIns="45720" bIns="18288" anchor="ctr">
            <a:spAutoFit/>
          </a:bodyPr>
          <a:lstStyle/>
          <a:p>
            <a:pPr algn="ctr">
              <a:lnSpc>
                <a:spcPct val="110000"/>
              </a:lnSpc>
            </a:pPr>
            <a:r>
              <a:rPr sz="1500" b="1" i="0">
                <a:solidFill>
                  <a:srgbClr val="404040"/>
                </a:solidFill>
                <a:latin typeface="Segoe UI"/>
              </a:rPr>
              <a:t>Nguồn Dữ liệu</a:t>
            </a:r>
          </a:p>
          <a:p>
            <a:pPr algn="ctr">
              <a:lnSpc>
                <a:spcPct val="110000"/>
              </a:lnSpc>
            </a:pPr>
            <a:r>
              <a:rPr sz="1100" b="0" i="0">
                <a:solidFill>
                  <a:srgbClr val="8A8A8A"/>
                </a:solidFill>
                <a:latin typeface="Segoe UI"/>
              </a:rPr>
              <a:t>Data Source</a:t>
            </a:r>
          </a:p>
        </p:txBody>
      </p:sp>
      <p:sp>
        <p:nvSpPr>
          <p:cNvPr id="9" name="Right Arrow 8"/>
          <p:cNvSpPr/>
          <p:nvPr/>
        </p:nvSpPr>
        <p:spPr>
          <a:xfrm>
            <a:off x="3749039" y="1892807"/>
            <a:ext cx="685800" cy="27432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526279" y="1600200"/>
            <a:ext cx="3108960" cy="868680"/>
          </a:xfrm>
          <a:prstGeom prst="roundRect">
            <a:avLst>
              <a:gd name="adj" fmla="val 12000"/>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1999" y="1600200"/>
            <a:ext cx="3017520" cy="868680"/>
          </a:xfrm>
          <a:prstGeom prst="rect">
            <a:avLst/>
          </a:prstGeom>
          <a:noFill/>
        </p:spPr>
        <p:txBody>
          <a:bodyPr wrap="square" lIns="45720" tIns="18288" rIns="45720" bIns="18288" anchor="ctr">
            <a:spAutoFit/>
          </a:bodyPr>
          <a:lstStyle/>
          <a:p>
            <a:pPr algn="ctr">
              <a:lnSpc>
                <a:spcPct val="110000"/>
              </a:lnSpc>
            </a:pPr>
            <a:r>
              <a:rPr sz="1500" b="1" i="0">
                <a:solidFill>
                  <a:srgbClr val="404040"/>
                </a:solidFill>
                <a:latin typeface="Segoe UI"/>
              </a:rPr>
              <a:t>Truy vấn Dữ liệu</a:t>
            </a:r>
          </a:p>
          <a:p>
            <a:pPr algn="ctr">
              <a:lnSpc>
                <a:spcPct val="110000"/>
              </a:lnSpc>
            </a:pPr>
            <a:r>
              <a:rPr sz="1100" b="0" i="0">
                <a:solidFill>
                  <a:srgbClr val="8A8A8A"/>
                </a:solidFill>
                <a:latin typeface="Segoe UI"/>
              </a:rPr>
              <a:t>Structure-Driven Data Query</a:t>
            </a:r>
          </a:p>
        </p:txBody>
      </p:sp>
      <p:sp>
        <p:nvSpPr>
          <p:cNvPr id="12" name="Right Arrow 11"/>
          <p:cNvSpPr/>
          <p:nvPr/>
        </p:nvSpPr>
        <p:spPr>
          <a:xfrm>
            <a:off x="7726679" y="1892807"/>
            <a:ext cx="685800" cy="27432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503919" y="1600200"/>
            <a:ext cx="3108960" cy="868680"/>
          </a:xfrm>
          <a:prstGeom prst="roundRect">
            <a:avLst>
              <a:gd name="adj" fmla="val 12000"/>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49640" y="1600200"/>
            <a:ext cx="3017520" cy="868680"/>
          </a:xfrm>
          <a:prstGeom prst="rect">
            <a:avLst/>
          </a:prstGeom>
          <a:noFill/>
        </p:spPr>
        <p:txBody>
          <a:bodyPr wrap="square" lIns="45720" tIns="18288" rIns="45720" bIns="18288" anchor="ctr">
            <a:spAutoFit/>
          </a:bodyPr>
          <a:lstStyle/>
          <a:p>
            <a:pPr algn="ctr">
              <a:lnSpc>
                <a:spcPct val="110000"/>
              </a:lnSpc>
            </a:pPr>
            <a:r>
              <a:rPr sz="1500" b="1" i="0">
                <a:solidFill>
                  <a:srgbClr val="404040"/>
                </a:solidFill>
                <a:latin typeface="Segoe UI"/>
              </a:rPr>
              <a:t>Biến dạng Giá trị Dữ liệu</a:t>
            </a:r>
          </a:p>
          <a:p>
            <a:pPr algn="ctr">
              <a:lnSpc>
                <a:spcPct val="110000"/>
              </a:lnSpc>
            </a:pPr>
            <a:r>
              <a:rPr sz="1100" b="0" i="0">
                <a:solidFill>
                  <a:srgbClr val="8A8A8A"/>
                </a:solidFill>
                <a:latin typeface="Segoe UI"/>
              </a:rPr>
              <a:t>Data Value-Based Distortion</a:t>
            </a:r>
          </a:p>
        </p:txBody>
      </p:sp>
      <p:sp>
        <p:nvSpPr>
          <p:cNvPr id="15" name="Rectangle 14"/>
          <p:cNvSpPr/>
          <p:nvPr/>
        </p:nvSpPr>
        <p:spPr>
          <a:xfrm>
            <a:off x="10241280" y="2468880"/>
            <a:ext cx="27432" cy="32004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463040" y="2788920"/>
            <a:ext cx="8805672" cy="2743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463040" y="2788920"/>
            <a:ext cx="27432" cy="36576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Isosceles Triangle 17"/>
          <p:cNvSpPr/>
          <p:nvPr/>
        </p:nvSpPr>
        <p:spPr>
          <a:xfrm rot="10800000">
            <a:off x="1371600" y="3108960"/>
            <a:ext cx="210312" cy="182880"/>
          </a:xfrm>
          <a:prstGeom prst="triangl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828800" y="2852928"/>
            <a:ext cx="8229600" cy="320040"/>
          </a:xfrm>
          <a:prstGeom prst="rect">
            <a:avLst/>
          </a:prstGeom>
          <a:noFill/>
        </p:spPr>
        <p:txBody>
          <a:bodyPr wrap="square" lIns="45720" tIns="18288" rIns="45720" bIns="18288" anchor="t">
            <a:spAutoFit/>
          </a:bodyPr>
          <a:lstStyle/>
          <a:p>
            <a:pPr algn="l">
              <a:lnSpc>
                <a:spcPct val="110000"/>
              </a:lnSpc>
            </a:pPr>
            <a:r>
              <a:rPr sz="1300" b="1" i="0">
                <a:solidFill>
                  <a:srgbClr val="F97316"/>
                </a:solidFill>
                <a:latin typeface="Segoe UI"/>
              </a:rPr>
              <a:t>NỬA HIỂN THỊ – Biến đổi hình ảnh trước khi đưa lên màn hình</a:t>
            </a:r>
          </a:p>
        </p:txBody>
      </p:sp>
      <p:sp>
        <p:nvSpPr>
          <p:cNvPr id="20" name="Rounded Rectangle 19"/>
          <p:cNvSpPr/>
          <p:nvPr/>
        </p:nvSpPr>
        <p:spPr>
          <a:xfrm>
            <a:off x="548640" y="3429000"/>
            <a:ext cx="1938528" cy="960120"/>
          </a:xfrm>
          <a:prstGeom prst="roundRect">
            <a:avLst>
              <a:gd name="adj" fmla="val 12000"/>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3429000"/>
            <a:ext cx="1847088" cy="960120"/>
          </a:xfrm>
          <a:prstGeom prst="rect">
            <a:avLst/>
          </a:prstGeom>
          <a:noFill/>
        </p:spPr>
        <p:txBody>
          <a:bodyPr wrap="square" lIns="45720" tIns="18288" rIns="45720" bIns="18288" anchor="ctr">
            <a:spAutoFit/>
          </a:bodyPr>
          <a:lstStyle/>
          <a:p>
            <a:pPr algn="ctr">
              <a:lnSpc>
                <a:spcPct val="110000"/>
              </a:lnSpc>
            </a:pPr>
            <a:r>
              <a:rPr sz="1500" b="1" i="0">
                <a:solidFill>
                  <a:srgbClr val="404040"/>
                </a:solidFill>
                <a:latin typeface="Segoe UI"/>
              </a:rPr>
              <a:t>Biến đổi Đối tượng</a:t>
            </a:r>
          </a:p>
          <a:p>
            <a:pPr algn="ctr">
              <a:lnSpc>
                <a:spcPct val="110000"/>
              </a:lnSpc>
            </a:pPr>
            <a:r>
              <a:rPr sz="1100" b="0" i="0">
                <a:solidFill>
                  <a:srgbClr val="8A8A8A"/>
                </a:solidFill>
                <a:latin typeface="Segoe UI"/>
              </a:rPr>
              <a:t>Object-Based Transforms</a:t>
            </a:r>
          </a:p>
        </p:txBody>
      </p:sp>
      <p:sp>
        <p:nvSpPr>
          <p:cNvPr id="22" name="Right Arrow 21"/>
          <p:cNvSpPr/>
          <p:nvPr/>
        </p:nvSpPr>
        <p:spPr>
          <a:xfrm>
            <a:off x="2532888" y="3794760"/>
            <a:ext cx="301752" cy="237744"/>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Up-Down Arrow 22"/>
          <p:cNvSpPr/>
          <p:nvPr/>
        </p:nvSpPr>
        <p:spPr>
          <a:xfrm>
            <a:off x="1408176" y="4480560"/>
            <a:ext cx="219456" cy="457200"/>
          </a:xfrm>
          <a:prstGeom prst="upDownArrow">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2880360" y="3429000"/>
            <a:ext cx="1938528" cy="960120"/>
          </a:xfrm>
          <a:prstGeom prst="roundRect">
            <a:avLst>
              <a:gd name="adj" fmla="val 12000"/>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26080" y="3429000"/>
            <a:ext cx="1847088" cy="960120"/>
          </a:xfrm>
          <a:prstGeom prst="rect">
            <a:avLst/>
          </a:prstGeom>
          <a:noFill/>
        </p:spPr>
        <p:txBody>
          <a:bodyPr wrap="square" lIns="45720" tIns="18288" rIns="45720" bIns="18288" anchor="ctr">
            <a:spAutoFit/>
          </a:bodyPr>
          <a:lstStyle/>
          <a:p>
            <a:pPr algn="ctr">
              <a:lnSpc>
                <a:spcPct val="110000"/>
              </a:lnSpc>
            </a:pPr>
            <a:r>
              <a:rPr sz="1500" b="1" i="0">
                <a:solidFill>
                  <a:srgbClr val="404040"/>
                </a:solidFill>
                <a:latin typeface="Segoe UI"/>
              </a:rPr>
              <a:t>Sửa đổi Thuộc tính</a:t>
            </a:r>
          </a:p>
          <a:p>
            <a:pPr algn="ctr">
              <a:lnSpc>
                <a:spcPct val="110000"/>
              </a:lnSpc>
            </a:pPr>
            <a:r>
              <a:rPr sz="1100" b="0" i="0">
                <a:solidFill>
                  <a:srgbClr val="8A8A8A"/>
                </a:solidFill>
                <a:latin typeface="Segoe UI"/>
              </a:rPr>
              <a:t>Attribute-Based Modifications</a:t>
            </a:r>
          </a:p>
        </p:txBody>
      </p:sp>
      <p:sp>
        <p:nvSpPr>
          <p:cNvPr id="26" name="Right Arrow 25"/>
          <p:cNvSpPr/>
          <p:nvPr/>
        </p:nvSpPr>
        <p:spPr>
          <a:xfrm>
            <a:off x="4864608" y="3794760"/>
            <a:ext cx="301752" cy="237744"/>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Up-Down Arrow 26"/>
          <p:cNvSpPr/>
          <p:nvPr/>
        </p:nvSpPr>
        <p:spPr>
          <a:xfrm>
            <a:off x="3739896" y="4480560"/>
            <a:ext cx="219456" cy="457200"/>
          </a:xfrm>
          <a:prstGeom prst="upDownArrow">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212080" y="3429000"/>
            <a:ext cx="1938528" cy="960120"/>
          </a:xfrm>
          <a:prstGeom prst="roundRect">
            <a:avLst>
              <a:gd name="adj" fmla="val 12000"/>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257800" y="3429000"/>
            <a:ext cx="1847088" cy="960120"/>
          </a:xfrm>
          <a:prstGeom prst="rect">
            <a:avLst/>
          </a:prstGeom>
          <a:noFill/>
        </p:spPr>
        <p:txBody>
          <a:bodyPr wrap="square" lIns="45720" tIns="18288" rIns="45720" bIns="18288" anchor="ctr">
            <a:spAutoFit/>
          </a:bodyPr>
          <a:lstStyle/>
          <a:p>
            <a:pPr algn="ctr">
              <a:lnSpc>
                <a:spcPct val="110000"/>
              </a:lnSpc>
            </a:pPr>
            <a:r>
              <a:rPr sz="1500" b="1" i="0">
                <a:solidFill>
                  <a:srgbClr val="404040"/>
                </a:solidFill>
                <a:latin typeface="Segoe UI"/>
              </a:rPr>
              <a:t>Biến dạng Không gian Màn hình</a:t>
            </a:r>
          </a:p>
          <a:p>
            <a:pPr algn="ctr">
              <a:lnSpc>
                <a:spcPct val="110000"/>
              </a:lnSpc>
            </a:pPr>
            <a:r>
              <a:rPr sz="1100" b="0" i="0">
                <a:solidFill>
                  <a:srgbClr val="8A8A8A"/>
                </a:solidFill>
                <a:latin typeface="Segoe UI"/>
              </a:rPr>
              <a:t>Screen-Space Distortion</a:t>
            </a:r>
          </a:p>
        </p:txBody>
      </p:sp>
      <p:sp>
        <p:nvSpPr>
          <p:cNvPr id="30" name="Right Arrow 29"/>
          <p:cNvSpPr/>
          <p:nvPr/>
        </p:nvSpPr>
        <p:spPr>
          <a:xfrm>
            <a:off x="7196328" y="3794760"/>
            <a:ext cx="301752" cy="237744"/>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Up-Down Arrow 30"/>
          <p:cNvSpPr/>
          <p:nvPr/>
        </p:nvSpPr>
        <p:spPr>
          <a:xfrm>
            <a:off x="6071616" y="4480560"/>
            <a:ext cx="219456" cy="457200"/>
          </a:xfrm>
          <a:prstGeom prst="upDownArrow">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7543800" y="3429000"/>
            <a:ext cx="1938528" cy="960120"/>
          </a:xfrm>
          <a:prstGeom prst="roundRect">
            <a:avLst>
              <a:gd name="adj" fmla="val 12000"/>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89520" y="3429000"/>
            <a:ext cx="1847088" cy="960120"/>
          </a:xfrm>
          <a:prstGeom prst="rect">
            <a:avLst/>
          </a:prstGeom>
          <a:noFill/>
        </p:spPr>
        <p:txBody>
          <a:bodyPr wrap="square" lIns="45720" tIns="18288" rIns="45720" bIns="18288" anchor="ctr">
            <a:spAutoFit/>
          </a:bodyPr>
          <a:lstStyle/>
          <a:p>
            <a:pPr algn="ctr">
              <a:lnSpc>
                <a:spcPct val="110000"/>
              </a:lnSpc>
            </a:pPr>
            <a:r>
              <a:rPr sz="1500" b="1" i="0">
                <a:solidFill>
                  <a:srgbClr val="404040"/>
                </a:solidFill>
                <a:latin typeface="Segoe UI"/>
              </a:rPr>
              <a:t>Sửa đổi Cấu trúc Trực quan</a:t>
            </a:r>
          </a:p>
          <a:p>
            <a:pPr algn="ctr">
              <a:lnSpc>
                <a:spcPct val="110000"/>
              </a:lnSpc>
            </a:pPr>
            <a:r>
              <a:rPr sz="1100" b="0" i="0">
                <a:solidFill>
                  <a:srgbClr val="8A8A8A"/>
                </a:solidFill>
                <a:latin typeface="Segoe UI"/>
              </a:rPr>
              <a:t>Viz Structure Modification</a:t>
            </a:r>
          </a:p>
        </p:txBody>
      </p:sp>
      <p:sp>
        <p:nvSpPr>
          <p:cNvPr id="34" name="Right Arrow 33"/>
          <p:cNvSpPr/>
          <p:nvPr/>
        </p:nvSpPr>
        <p:spPr>
          <a:xfrm>
            <a:off x="9528048" y="3794760"/>
            <a:ext cx="301752" cy="237744"/>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Up-Down Arrow 34"/>
          <p:cNvSpPr/>
          <p:nvPr/>
        </p:nvSpPr>
        <p:spPr>
          <a:xfrm>
            <a:off x="8403336" y="4480560"/>
            <a:ext cx="219456" cy="457200"/>
          </a:xfrm>
          <a:prstGeom prst="upDownArrow">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9875520" y="3429000"/>
            <a:ext cx="1938528" cy="960120"/>
          </a:xfrm>
          <a:prstGeom prst="roundRect">
            <a:avLst>
              <a:gd name="adj" fmla="val 12000"/>
            </a:avLst>
          </a:prstGeom>
          <a:solidFill>
            <a:srgbClr val="FFF7ED"/>
          </a:solidFill>
          <a:ln w="1905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21240" y="3429000"/>
            <a:ext cx="1847088" cy="960120"/>
          </a:xfrm>
          <a:prstGeom prst="rect">
            <a:avLst/>
          </a:prstGeom>
          <a:noFill/>
        </p:spPr>
        <p:txBody>
          <a:bodyPr wrap="square" lIns="45720" tIns="18288" rIns="45720" bIns="18288" anchor="ctr">
            <a:spAutoFit/>
          </a:bodyPr>
          <a:lstStyle/>
          <a:p>
            <a:pPr algn="ctr">
              <a:lnSpc>
                <a:spcPct val="110000"/>
              </a:lnSpc>
            </a:pPr>
            <a:r>
              <a:rPr sz="1500" b="1" i="0">
                <a:solidFill>
                  <a:srgbClr val="404040"/>
                </a:solidFill>
                <a:latin typeface="Segoe UI"/>
              </a:rPr>
              <a:t>Hiển thị Dữ liệu</a:t>
            </a:r>
          </a:p>
          <a:p>
            <a:pPr algn="ctr">
              <a:lnSpc>
                <a:spcPct val="110000"/>
              </a:lnSpc>
            </a:pPr>
            <a:r>
              <a:rPr sz="1100" b="0" i="0">
                <a:solidFill>
                  <a:srgbClr val="8A8A8A"/>
                </a:solidFill>
                <a:latin typeface="Segoe UI"/>
              </a:rPr>
              <a:t>Data Display</a:t>
            </a:r>
          </a:p>
        </p:txBody>
      </p:sp>
      <p:sp>
        <p:nvSpPr>
          <p:cNvPr id="38" name="Up-Down Arrow 37"/>
          <p:cNvSpPr/>
          <p:nvPr/>
        </p:nvSpPr>
        <p:spPr>
          <a:xfrm>
            <a:off x="10735056" y="4480560"/>
            <a:ext cx="219456" cy="457200"/>
          </a:xfrm>
          <a:prstGeom prst="upDownArrow">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548640" y="4983480"/>
            <a:ext cx="11064240" cy="777240"/>
          </a:xfrm>
          <a:prstGeom prst="roundRect">
            <a:avLst>
              <a:gd name="adj" fmla="val 2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31520" y="4983480"/>
            <a:ext cx="10698480" cy="777240"/>
          </a:xfrm>
          <a:prstGeom prst="rect">
            <a:avLst/>
          </a:prstGeom>
          <a:noFill/>
        </p:spPr>
        <p:txBody>
          <a:bodyPr wrap="square" lIns="45720" tIns="18288" rIns="45720" bIns="18288" anchor="ctr">
            <a:spAutoFit/>
          </a:bodyPr>
          <a:lstStyle/>
          <a:p>
            <a:pPr algn="ctr">
              <a:lnSpc>
                <a:spcPct val="110000"/>
              </a:lnSpc>
            </a:pPr>
            <a:r>
              <a:rPr sz="1800" b="1" i="0">
                <a:solidFill>
                  <a:srgbClr val="FFFFFF"/>
                </a:solidFill>
                <a:latin typeface="Segoe UI"/>
              </a:rPr>
              <a:t>NGƯỜI DÙNG (USER)  </a:t>
            </a:r>
            <a:r>
              <a:rPr sz="1500" b="0" i="0">
                <a:solidFill>
                  <a:srgbClr val="FFFFFF"/>
                </a:solidFill>
                <a:latin typeface="Segoe UI"/>
              </a:rPr>
              <a:t>can thiệp vào bất kỳ giai đoạn nào – mọi module đều tùy chọn và có thể bật/tắt.</a:t>
            </a:r>
          </a:p>
        </p:txBody>
      </p:sp>
      <p:sp>
        <p:nvSpPr>
          <p:cNvPr id="41" name="TextBox 40"/>
          <p:cNvSpPr txBox="1"/>
          <p:nvPr/>
        </p:nvSpPr>
        <p:spPr>
          <a:xfrm>
            <a:off x="548640" y="5897880"/>
            <a:ext cx="11064240" cy="457200"/>
          </a:xfrm>
          <a:prstGeom prst="rect">
            <a:avLst/>
          </a:prstGeom>
          <a:noFill/>
        </p:spPr>
        <p:txBody>
          <a:bodyPr wrap="square" lIns="45720" tIns="18288" rIns="45720" bIns="18288" anchor="t">
            <a:spAutoFit/>
          </a:bodyPr>
          <a:lstStyle/>
          <a:p>
            <a:pPr algn="ctr">
              <a:lnSpc>
                <a:spcPct val="110000"/>
              </a:lnSpc>
            </a:pPr>
            <a:r>
              <a:rPr sz="1300" b="0" i="1">
                <a:solidFill>
                  <a:srgbClr val="8A8A8A"/>
                </a:solidFill>
                <a:latin typeface="Segoe UI"/>
              </a:rPr>
              <a:t>Ứng dụng demo (mục 11.3) chạy chuỗi: Lọc → Tái cấu hình (PCA) → Mã hóa → Hiển thị.</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1460"/>
            <a:ext cx="11064240" cy="685800"/>
          </a:xfrm>
          <a:prstGeom prst="rect">
            <a:avLst/>
          </a:prstGeom>
          <a:noFill/>
        </p:spPr>
        <p:txBody>
          <a:bodyPr wrap="square" lIns="45720" tIns="18288" rIns="45720" bIns="18288" anchor="ctr">
            <a:spAutoFit/>
          </a:bodyPr>
          <a:lstStyle/>
          <a:p>
            <a:pPr algn="l">
              <a:lnSpc>
                <a:spcPct val="110000"/>
              </a:lnSpc>
            </a:pPr>
            <a:r>
              <a:rPr sz="3000" b="1" i="0">
                <a:solidFill>
                  <a:srgbClr val="404040"/>
                </a:solidFill>
                <a:latin typeface="Segoe UI"/>
              </a:rPr>
              <a:t>Minh họa trên Ứng dụng Demo (Streamlit + Plotly)</a:t>
            </a:r>
          </a:p>
        </p:txBody>
      </p:sp>
      <p:sp>
        <p:nvSpPr>
          <p:cNvPr id="3" name="Rectangle 2"/>
          <p:cNvSpPr/>
          <p:nvPr/>
        </p:nvSpPr>
        <p:spPr>
          <a:xfrm>
            <a:off x="594360" y="1051560"/>
            <a:ext cx="82296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446520"/>
            <a:ext cx="5486400" cy="274320"/>
          </a:xfrm>
          <a:prstGeom prst="rect">
            <a:avLst/>
          </a:prstGeom>
          <a:noFill/>
        </p:spPr>
        <p:txBody>
          <a:bodyPr wrap="square" lIns="45720" tIns="18288" rIns="45720" bIns="18288" anchor="t">
            <a:spAutoFit/>
          </a:bodyPr>
          <a:lstStyle/>
          <a:p>
            <a:pPr algn="l">
              <a:lnSpc>
                <a:spcPct val="110000"/>
              </a:lnSpc>
            </a:pPr>
            <a:r>
              <a:rPr sz="1000" b="0" i="0">
                <a:solidFill>
                  <a:srgbClr val="8A8A8A"/>
                </a:solidFill>
                <a:latin typeface="Segoe UI"/>
              </a:rPr>
              <a:t>Chương 11 – Các khái niệm tương tác  |  Nhóm 18</a:t>
            </a:r>
          </a:p>
        </p:txBody>
      </p:sp>
      <p:sp>
        <p:nvSpPr>
          <p:cNvPr id="5" name="TextBox 4"/>
          <p:cNvSpPr txBox="1"/>
          <p:nvPr/>
        </p:nvSpPr>
        <p:spPr>
          <a:xfrm>
            <a:off x="10972800" y="6446520"/>
            <a:ext cx="731520" cy="274320"/>
          </a:xfrm>
          <a:prstGeom prst="rect">
            <a:avLst/>
          </a:prstGeom>
          <a:noFill/>
        </p:spPr>
        <p:txBody>
          <a:bodyPr wrap="square" lIns="45720" tIns="18288" rIns="45720" bIns="18288" anchor="t">
            <a:spAutoFit/>
          </a:bodyPr>
          <a:lstStyle/>
          <a:p>
            <a:pPr algn="r">
              <a:lnSpc>
                <a:spcPct val="110000"/>
              </a:lnSpc>
            </a:pPr>
            <a:r>
              <a:rPr sz="1000" b="0" i="0">
                <a:solidFill>
                  <a:srgbClr val="8A8A8A"/>
                </a:solidFill>
                <a:latin typeface="Segoe UI"/>
              </a:rPr>
              <a:t>13</a:t>
            </a:r>
          </a:p>
        </p:txBody>
      </p:sp>
      <p:graphicFrame>
        <p:nvGraphicFramePr>
          <p:cNvPr id="6" name="Table 5"/>
          <p:cNvGraphicFramePr>
            <a:graphicFrameLocks noGrp="1"/>
          </p:cNvGraphicFramePr>
          <p:nvPr/>
        </p:nvGraphicFramePr>
        <p:xfrm>
          <a:off x="548640" y="1371600"/>
          <a:ext cx="11064240" cy="438912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48640">
                <a:tc>
                  <a:txBody>
                    <a:bodyPr/>
                    <a:lstStyle/>
                    <a:p>
                      <a:r>
                        <a:rPr sz="1400" b="1">
                          <a:solidFill>
                            <a:srgbClr val="FFFFFF"/>
                          </a:solidFill>
                          <a:latin typeface="Segoe UI"/>
                        </a:rPr>
                        <a:t>Toán tử</a:t>
                      </a:r>
                    </a:p>
                  </a:txBody>
                  <a:tcPr marL="109728" marR="109728" anchor="ctr">
                    <a:solidFill>
                      <a:srgbClr val="F97316"/>
                    </a:solidFill>
                  </a:tcPr>
                </a:tc>
                <a:tc>
                  <a:txBody>
                    <a:bodyPr/>
                    <a:lstStyle/>
                    <a:p>
                      <a:r>
                        <a:rPr sz="1400" b="1">
                          <a:solidFill>
                            <a:srgbClr val="FFFFFF"/>
                          </a:solidFill>
                          <a:latin typeface="Segoe UI"/>
                        </a:rPr>
                        <a:t>Biểu đồ trong ứng dụng</a:t>
                      </a:r>
                    </a:p>
                  </a:txBody>
                  <a:tcPr marL="109728" marR="109728" anchor="ctr">
                    <a:solidFill>
                      <a:srgbClr val="F97316"/>
                    </a:solidFill>
                  </a:tcPr>
                </a:tc>
                <a:tc>
                  <a:txBody>
                    <a:bodyPr/>
                    <a:lstStyle/>
                    <a:p>
                      <a:r>
                        <a:rPr sz="1400" b="1">
                          <a:solidFill>
                            <a:srgbClr val="FFFFFF"/>
                          </a:solidFill>
                          <a:latin typeface="Segoe UI"/>
                        </a:rPr>
                        <a:t>Thao tác tương tác</a:t>
                      </a:r>
                    </a:p>
                  </a:txBody>
                  <a:tcPr marL="109728" marR="109728" anchor="ctr">
                    <a:solidFill>
                      <a:srgbClr val="F97316"/>
                    </a:solidFill>
                  </a:tcPr>
                </a:tc>
                <a:extLst>
                  <a:ext uri="{0D108BD9-81ED-4DB2-BD59-A6C34878D82A}">
                    <a16:rowId xmlns:a16="http://schemas.microsoft.com/office/drawing/2014/main" val="10000"/>
                  </a:ext>
                </a:extLst>
              </a:tr>
              <a:tr h="548640">
                <a:tc>
                  <a:txBody>
                    <a:bodyPr/>
                    <a:lstStyle/>
                    <a:p>
                      <a:r>
                        <a:rPr sz="1300" b="1">
                          <a:solidFill>
                            <a:srgbClr val="F97316"/>
                          </a:solidFill>
                          <a:latin typeface="Segoe UI"/>
                        </a:rPr>
                        <a:t>Điều hướng (11.1.1)</a:t>
                      </a:r>
                    </a:p>
                  </a:txBody>
                  <a:tcPr marL="109728" marR="109728" anchor="ctr">
                    <a:solidFill>
                      <a:srgbClr val="FFFFFF"/>
                    </a:solidFill>
                  </a:tcPr>
                </a:tc>
                <a:tc>
                  <a:txBody>
                    <a:bodyPr/>
                    <a:lstStyle/>
                    <a:p>
                      <a:r>
                        <a:rPr sz="1300" b="0">
                          <a:solidFill>
                            <a:srgbClr val="404040"/>
                          </a:solidFill>
                          <a:latin typeface="Segoe UI"/>
                        </a:rPr>
                        <a:t>Grand Tour (chiếu 2D tự động); Scatter 2D Tuổi – Thu nhập</a:t>
                      </a:r>
                    </a:p>
                  </a:txBody>
                  <a:tcPr marL="109728" marR="109728" anchor="ctr">
                    <a:solidFill>
                      <a:srgbClr val="FFFFFF"/>
                    </a:solidFill>
                  </a:tcPr>
                </a:tc>
                <a:tc>
                  <a:txBody>
                    <a:bodyPr/>
                    <a:lstStyle/>
                    <a:p>
                      <a:r>
                        <a:rPr sz="1300" b="0">
                          <a:solidFill>
                            <a:srgbClr val="404040"/>
                          </a:solidFill>
                          <a:latin typeface="Segoe UI"/>
                        </a:rPr>
                        <a:t>Grand Tour tự động, chỉnh kích thước bước; Pan, Zoom</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300" b="1">
                          <a:solidFill>
                            <a:srgbClr val="F97316"/>
                          </a:solidFill>
                          <a:latin typeface="Segoe UI"/>
                        </a:rPr>
                        <a:t>Lựa chọn (11.1.2)</a:t>
                      </a:r>
                    </a:p>
                  </a:txBody>
                  <a:tcPr marL="109728" marR="109728" anchor="ctr">
                    <a:solidFill>
                      <a:srgbClr val="FFF7ED"/>
                    </a:solidFill>
                  </a:tcPr>
                </a:tc>
                <a:tc>
                  <a:txBody>
                    <a:bodyPr/>
                    <a:lstStyle/>
                    <a:p>
                      <a:r>
                        <a:rPr sz="1300" b="0">
                          <a:solidFill>
                            <a:srgbClr val="404040"/>
                          </a:solidFill>
                          <a:latin typeface="Segoe UI"/>
                        </a:rPr>
                        <a:t>Scatter + biểu đồ cột + chỉ số KPI</a:t>
                      </a:r>
                    </a:p>
                  </a:txBody>
                  <a:tcPr marL="109728" marR="109728" anchor="ctr">
                    <a:solidFill>
                      <a:srgbClr val="FFF7ED"/>
                    </a:solidFill>
                  </a:tcPr>
                </a:tc>
                <a:tc>
                  <a:txBody>
                    <a:bodyPr/>
                    <a:lstStyle/>
                    <a:p>
                      <a:r>
                        <a:rPr sz="1300" b="0">
                          <a:solidFill>
                            <a:srgbClr val="404040"/>
                          </a:solidFill>
                          <a:latin typeface="Segoe UI"/>
                        </a:rPr>
                        <a:t>Box/Lasso Select, chọn thay thế hoặc cộng thêm; thống kê tự cập nhật</a:t>
                      </a:r>
                    </a:p>
                  </a:txBody>
                  <a:tcPr marL="109728" marR="109728" anchor="ctr">
                    <a:solidFill>
                      <a:srgbClr val="FFF7ED"/>
                    </a:solidFill>
                  </a:tcPr>
                </a:tc>
                <a:extLst>
                  <a:ext uri="{0D108BD9-81ED-4DB2-BD59-A6C34878D82A}">
                    <a16:rowId xmlns:a16="http://schemas.microsoft.com/office/drawing/2014/main" val="10002"/>
                  </a:ext>
                </a:extLst>
              </a:tr>
              <a:tr h="548640">
                <a:tc>
                  <a:txBody>
                    <a:bodyPr/>
                    <a:lstStyle/>
                    <a:p>
                      <a:r>
                        <a:rPr sz="1300" b="1">
                          <a:solidFill>
                            <a:srgbClr val="F97316"/>
                          </a:solidFill>
                          <a:latin typeface="Segoe UI"/>
                        </a:rPr>
                        <a:t>Lọc (11.1.3)</a:t>
                      </a:r>
                    </a:p>
                  </a:txBody>
                  <a:tcPr marL="109728" marR="109728" anchor="ctr">
                    <a:solidFill>
                      <a:srgbClr val="FFFFFF"/>
                    </a:solidFill>
                  </a:tcPr>
                </a:tc>
                <a:tc>
                  <a:txBody>
                    <a:bodyPr/>
                    <a:lstStyle/>
                    <a:p>
                      <a:r>
                        <a:rPr sz="1300" b="0">
                          <a:solidFill>
                            <a:srgbClr val="404040"/>
                          </a:solidFill>
                          <a:latin typeface="Segoe UI"/>
                        </a:rPr>
                        <a:t>Bộ lọc khoảng giá trị và thuộc tính phân loại</a:t>
                      </a:r>
                    </a:p>
                  </a:txBody>
                  <a:tcPr marL="109728" marR="109728" anchor="ctr">
                    <a:solidFill>
                      <a:srgbClr val="FFFFFF"/>
                    </a:solidFill>
                  </a:tcPr>
                </a:tc>
                <a:tc>
                  <a:txBody>
                    <a:bodyPr/>
                    <a:lstStyle/>
                    <a:p>
                      <a:r>
                        <a:rPr sz="1300" b="0">
                          <a:solidFill>
                            <a:srgbClr val="404040"/>
                          </a:solidFill>
                          <a:latin typeface="Segoe UI"/>
                        </a:rPr>
                        <a:t>Điểm không thỏa điều kiện bị loại khỏi biểu đồ</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300" b="1">
                          <a:solidFill>
                            <a:srgbClr val="F97316"/>
                          </a:solidFill>
                          <a:latin typeface="Segoe UI"/>
                        </a:rPr>
                        <a:t>Tái cấu hình (11.1.4)</a:t>
                      </a:r>
                    </a:p>
                  </a:txBody>
                  <a:tcPr marL="109728" marR="109728" anchor="ctr">
                    <a:solidFill>
                      <a:srgbClr val="FFF7ED"/>
                    </a:solidFill>
                  </a:tcPr>
                </a:tc>
                <a:tc>
                  <a:txBody>
                    <a:bodyPr/>
                    <a:lstStyle/>
                    <a:p>
                      <a:r>
                        <a:rPr sz="1300" b="0">
                          <a:solidFill>
                            <a:srgbClr val="404040"/>
                          </a:solidFill>
                          <a:latin typeface="Segoe UI"/>
                        </a:rPr>
                        <a:t>Đổi trục X/Y; PCA 2D/3D</a:t>
                      </a:r>
                    </a:p>
                  </a:txBody>
                  <a:tcPr marL="109728" marR="109728" anchor="ctr">
                    <a:solidFill>
                      <a:srgbClr val="FFF7ED"/>
                    </a:solidFill>
                  </a:tcPr>
                </a:tc>
                <a:tc>
                  <a:txBody>
                    <a:bodyPr/>
                    <a:lstStyle/>
                    <a:p>
                      <a:r>
                        <a:rPr sz="1300" b="0">
                          <a:solidFill>
                            <a:srgbClr val="404040"/>
                          </a:solidFill>
                          <a:latin typeface="Segoe UI"/>
                        </a:rPr>
                        <a:t>Sắp xếp lại không gian để lộ cấu trúc ẩn</a:t>
                      </a:r>
                    </a:p>
                  </a:txBody>
                  <a:tcPr marL="109728" marR="109728" anchor="ctr">
                    <a:solidFill>
                      <a:srgbClr val="FFF7ED"/>
                    </a:solidFill>
                  </a:tcPr>
                </a:tc>
                <a:extLst>
                  <a:ext uri="{0D108BD9-81ED-4DB2-BD59-A6C34878D82A}">
                    <a16:rowId xmlns:a16="http://schemas.microsoft.com/office/drawing/2014/main" val="10004"/>
                  </a:ext>
                </a:extLst>
              </a:tr>
              <a:tr h="548640">
                <a:tc>
                  <a:txBody>
                    <a:bodyPr/>
                    <a:lstStyle/>
                    <a:p>
                      <a:r>
                        <a:rPr sz="1300" b="1">
                          <a:solidFill>
                            <a:srgbClr val="F97316"/>
                          </a:solidFill>
                          <a:latin typeface="Segoe UI"/>
                        </a:rPr>
                        <a:t>Mã hóa (11.1.5)</a:t>
                      </a:r>
                    </a:p>
                  </a:txBody>
                  <a:tcPr marL="109728" marR="109728" anchor="ctr">
                    <a:solidFill>
                      <a:srgbClr val="FFFFFF"/>
                    </a:solidFill>
                  </a:tcPr>
                </a:tc>
                <a:tc>
                  <a:txBody>
                    <a:bodyPr/>
                    <a:lstStyle/>
                    <a:p>
                      <a:r>
                        <a:rPr sz="1300" b="0">
                          <a:solidFill>
                            <a:srgbClr val="404040"/>
                          </a:solidFill>
                          <a:latin typeface="Segoe UI"/>
                        </a:rPr>
                        <a:t>Bar, Boxplot, Scatter, Violin; thang màu</a:t>
                      </a:r>
                    </a:p>
                  </a:txBody>
                  <a:tcPr marL="109728" marR="109728" anchor="ctr">
                    <a:solidFill>
                      <a:srgbClr val="FFFFFF"/>
                    </a:solidFill>
                  </a:tcPr>
                </a:tc>
                <a:tc>
                  <a:txBody>
                    <a:bodyPr/>
                    <a:lstStyle/>
                    <a:p>
                      <a:r>
                        <a:rPr sz="1300" b="0">
                          <a:solidFill>
                            <a:srgbClr val="404040"/>
                          </a:solidFill>
                          <a:latin typeface="Segoe UI"/>
                        </a:rPr>
                        <a:t>So sánh cách mã hóa và bản đồ màu (Sequential, Diverging, Rainbow)</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300" b="1">
                          <a:solidFill>
                            <a:srgbClr val="F97316"/>
                          </a:solidFill>
                          <a:latin typeface="Segoe UI"/>
                        </a:rPr>
                        <a:t>Kết nối (11.1.6)</a:t>
                      </a:r>
                    </a:p>
                  </a:txBody>
                  <a:tcPr marL="109728" marR="109728" anchor="ctr">
                    <a:solidFill>
                      <a:srgbClr val="FFF7ED"/>
                    </a:solidFill>
                  </a:tcPr>
                </a:tc>
                <a:tc>
                  <a:txBody>
                    <a:bodyPr/>
                    <a:lstStyle/>
                    <a:p>
                      <a:r>
                        <a:rPr sz="1300" b="0">
                          <a:solidFill>
                            <a:srgbClr val="404040"/>
                          </a:solidFill>
                          <a:latin typeface="Segoe UI"/>
                        </a:rPr>
                        <a:t>3 khung nhìn: scatter, cột, histogram</a:t>
                      </a:r>
                    </a:p>
                  </a:txBody>
                  <a:tcPr marL="109728" marR="109728" anchor="ctr">
                    <a:solidFill>
                      <a:srgbClr val="FFF7ED"/>
                    </a:solidFill>
                  </a:tcPr>
                </a:tc>
                <a:tc>
                  <a:txBody>
                    <a:bodyPr/>
                    <a:lstStyle/>
                    <a:p>
                      <a:r>
                        <a:rPr sz="1300" b="0">
                          <a:solidFill>
                            <a:srgbClr val="404040"/>
                          </a:solidFill>
                          <a:latin typeface="Segoe UI"/>
                        </a:rPr>
                        <a:t>Chọn nhóm: cả 3 biểu đồ cùng highlight; tách liên kết từng khung</a:t>
                      </a:r>
                    </a:p>
                  </a:txBody>
                  <a:tcPr marL="109728" marR="109728" anchor="ctr">
                    <a:solidFill>
                      <a:srgbClr val="FFF7ED"/>
                    </a:solidFill>
                  </a:tcPr>
                </a:tc>
                <a:extLst>
                  <a:ext uri="{0D108BD9-81ED-4DB2-BD59-A6C34878D82A}">
                    <a16:rowId xmlns:a16="http://schemas.microsoft.com/office/drawing/2014/main" val="10006"/>
                  </a:ext>
                </a:extLst>
              </a:tr>
              <a:tr h="548640">
                <a:tc>
                  <a:txBody>
                    <a:bodyPr/>
                    <a:lstStyle/>
                    <a:p>
                      <a:r>
                        <a:rPr sz="1300" b="1">
                          <a:solidFill>
                            <a:srgbClr val="F97316"/>
                          </a:solidFill>
                          <a:latin typeface="Segoe UI"/>
                        </a:rPr>
                        <a:t>Khái quát / Chi tiết (11.1.7)</a:t>
                      </a:r>
                    </a:p>
                  </a:txBody>
                  <a:tcPr marL="109728" marR="109728" anchor="ctr">
                    <a:solidFill>
                      <a:srgbClr val="FFFFFF"/>
                    </a:solidFill>
                  </a:tcPr>
                </a:tc>
                <a:tc>
                  <a:txBody>
                    <a:bodyPr/>
                    <a:lstStyle/>
                    <a:p>
                      <a:r>
                        <a:rPr sz="1300" b="0">
                          <a:solidFill>
                            <a:srgbClr val="404040"/>
                          </a:solidFill>
                          <a:latin typeface="Segoe UI"/>
                        </a:rPr>
                        <a:t>Biến dạng Fisheye</a:t>
                      </a:r>
                    </a:p>
                  </a:txBody>
                  <a:tcPr marL="109728" marR="109728" anchor="ctr">
                    <a:solidFill>
                      <a:srgbClr val="FFFFFF"/>
                    </a:solidFill>
                  </a:tcPr>
                </a:tc>
                <a:tc>
                  <a:txBody>
                    <a:bodyPr/>
                    <a:lstStyle/>
                    <a:p>
                      <a:r>
                        <a:rPr sz="1300" b="0">
                          <a:solidFill>
                            <a:srgbClr val="404040"/>
                          </a:solidFill>
                          <a:latin typeface="Segoe UI"/>
                        </a:rPr>
                        <a:t>Phóng to tiêu điểm, nén phần còn lại; chỉnh tiêu điểm, phạm vi, mức phóng đại</a:t>
                      </a:r>
                    </a:p>
                  </a:txBody>
                  <a:tcPr marL="109728" marR="109728" anchor="ctr">
                    <a:solidFill>
                      <a:srgbClr val="FFFFFF"/>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548640" y="5989320"/>
            <a:ext cx="11064240" cy="365760"/>
          </a:xfrm>
          <a:prstGeom prst="rect">
            <a:avLst/>
          </a:prstGeom>
          <a:noFill/>
        </p:spPr>
        <p:txBody>
          <a:bodyPr wrap="square" lIns="45720" tIns="18288" rIns="45720" bIns="18288" anchor="t">
            <a:spAutoFit/>
          </a:bodyPr>
          <a:lstStyle/>
          <a:p>
            <a:pPr algn="ctr">
              <a:lnSpc>
                <a:spcPct val="110000"/>
              </a:lnSpc>
            </a:pPr>
            <a:r>
              <a:rPr sz="1300" b="0" i="1">
                <a:solidFill>
                  <a:srgbClr val="8A8A8A"/>
                </a:solidFill>
                <a:latin typeface="Segoe UI"/>
              </a:rPr>
              <a:t>Dữ liệu: IBM HR Employee Attrition – 1.470 nhân viên, 35 thuộc tính.</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6446520"/>
            <a:ext cx="5486400" cy="274320"/>
          </a:xfrm>
          <a:prstGeom prst="rect">
            <a:avLst/>
          </a:prstGeom>
          <a:noFill/>
        </p:spPr>
        <p:txBody>
          <a:bodyPr wrap="square" lIns="45720" tIns="18288" rIns="45720" bIns="18288" anchor="t">
            <a:spAutoFit/>
          </a:bodyPr>
          <a:lstStyle/>
          <a:p>
            <a:pPr algn="l">
              <a:lnSpc>
                <a:spcPct val="110000"/>
              </a:lnSpc>
            </a:pPr>
            <a:r>
              <a:rPr sz="1000" b="0" i="0">
                <a:solidFill>
                  <a:srgbClr val="8A8A8A"/>
                </a:solidFill>
                <a:latin typeface="Segoe UI"/>
              </a:rPr>
              <a:t>Chương 11 – Các khái niệm tương tác  |  Nhóm 18</a:t>
            </a:r>
          </a:p>
        </p:txBody>
      </p:sp>
      <p:sp>
        <p:nvSpPr>
          <p:cNvPr id="3" name="TextBox 2"/>
          <p:cNvSpPr txBox="1"/>
          <p:nvPr/>
        </p:nvSpPr>
        <p:spPr>
          <a:xfrm>
            <a:off x="10972800" y="6446520"/>
            <a:ext cx="731520" cy="274320"/>
          </a:xfrm>
          <a:prstGeom prst="rect">
            <a:avLst/>
          </a:prstGeom>
          <a:noFill/>
        </p:spPr>
        <p:txBody>
          <a:bodyPr wrap="square" lIns="45720" tIns="18288" rIns="45720" bIns="18288" anchor="t">
            <a:spAutoFit/>
          </a:bodyPr>
          <a:lstStyle/>
          <a:p>
            <a:pPr algn="r">
              <a:lnSpc>
                <a:spcPct val="110000"/>
              </a:lnSpc>
            </a:pPr>
            <a:r>
              <a:rPr sz="1000" b="0" i="0">
                <a:solidFill>
                  <a:srgbClr val="8A8A8A"/>
                </a:solidFill>
                <a:latin typeface="Segoe UI"/>
              </a:rPr>
              <a:t>14</a:t>
            </a:r>
          </a:p>
        </p:txBody>
      </p:sp>
      <p:sp>
        <p:nvSpPr>
          <p:cNvPr id="4" name="TextBox 3"/>
          <p:cNvSpPr txBox="1"/>
          <p:nvPr/>
        </p:nvSpPr>
        <p:spPr>
          <a:xfrm>
            <a:off x="548640" y="2468880"/>
            <a:ext cx="11064240" cy="822960"/>
          </a:xfrm>
          <a:prstGeom prst="rect">
            <a:avLst/>
          </a:prstGeom>
          <a:noFill/>
        </p:spPr>
        <p:txBody>
          <a:bodyPr wrap="square" lIns="45720" tIns="18288" rIns="45720" bIns="18288" anchor="ctr">
            <a:spAutoFit/>
          </a:bodyPr>
          <a:lstStyle/>
          <a:p>
            <a:pPr algn="ctr">
              <a:lnSpc>
                <a:spcPct val="110000"/>
              </a:lnSpc>
            </a:pPr>
            <a:r>
              <a:rPr sz="2600" b="1" i="0">
                <a:solidFill>
                  <a:srgbClr val="F97316"/>
                </a:solidFill>
                <a:latin typeface="Segoe UI"/>
              </a:rPr>
              <a:t>[ </a:t>
            </a:r>
            <a:r>
              <a:rPr sz="2600" b="0" i="0">
                <a:solidFill>
                  <a:srgbClr val="404040"/>
                </a:solidFill>
                <a:latin typeface="Segoe UI"/>
              </a:rPr>
              <a:t>7 Toán tử</a:t>
            </a:r>
            <a:r>
              <a:rPr sz="2600" b="1" i="0">
                <a:solidFill>
                  <a:srgbClr val="F97316"/>
                </a:solidFill>
                <a:latin typeface="Segoe UI"/>
              </a:rPr>
              <a:t> ]</a:t>
            </a:r>
            <a:r>
              <a:rPr sz="2600" b="0" i="0">
                <a:solidFill>
                  <a:srgbClr val="404040"/>
                </a:solidFill>
                <a:latin typeface="Segoe UI"/>
              </a:rPr>
              <a:t>  ×  </a:t>
            </a:r>
            <a:r>
              <a:rPr sz="2600" b="1" i="0">
                <a:solidFill>
                  <a:srgbClr val="F97316"/>
                </a:solidFill>
                <a:latin typeface="Segoe UI"/>
              </a:rPr>
              <a:t>[ </a:t>
            </a:r>
            <a:r>
              <a:rPr sz="2600" b="0" i="0">
                <a:solidFill>
                  <a:srgbClr val="404040"/>
                </a:solidFill>
                <a:latin typeface="Segoe UI"/>
              </a:rPr>
              <a:t>6 Không gian</a:t>
            </a:r>
            <a:r>
              <a:rPr sz="2600" b="1" i="0">
                <a:solidFill>
                  <a:srgbClr val="F97316"/>
                </a:solidFill>
                <a:latin typeface="Segoe UI"/>
              </a:rPr>
              <a:t> ]</a:t>
            </a:r>
            <a:r>
              <a:rPr sz="2600" b="0" i="0">
                <a:solidFill>
                  <a:srgbClr val="404040"/>
                </a:solidFill>
                <a:latin typeface="Segoe UI"/>
              </a:rPr>
              <a:t>  ×  </a:t>
            </a:r>
            <a:r>
              <a:rPr sz="2600" b="1" i="0">
                <a:solidFill>
                  <a:srgbClr val="F97316"/>
                </a:solidFill>
                <a:latin typeface="Segoe UI"/>
              </a:rPr>
              <a:t>[ </a:t>
            </a:r>
            <a:r>
              <a:rPr sz="2600" b="0" i="0">
                <a:solidFill>
                  <a:srgbClr val="404040"/>
                </a:solidFill>
                <a:latin typeface="Segoe UI"/>
              </a:rPr>
              <a:t>4 Tham số</a:t>
            </a:r>
            <a:r>
              <a:rPr sz="2600" b="1" i="0">
                <a:solidFill>
                  <a:srgbClr val="F97316"/>
                </a:solidFill>
                <a:latin typeface="Segoe UI"/>
              </a:rPr>
              <a:t> ]</a:t>
            </a:r>
            <a:r>
              <a:rPr sz="2600" b="0" i="0">
                <a:solidFill>
                  <a:srgbClr val="404040"/>
                </a:solidFill>
                <a:latin typeface="Segoe UI"/>
              </a:rPr>
              <a:t>  =  Khám phá Insight</a:t>
            </a:r>
          </a:p>
        </p:txBody>
      </p:sp>
      <p:sp>
        <p:nvSpPr>
          <p:cNvPr id="5" name="TextBox 4"/>
          <p:cNvSpPr txBox="1"/>
          <p:nvPr/>
        </p:nvSpPr>
        <p:spPr>
          <a:xfrm>
            <a:off x="1463040" y="3566160"/>
            <a:ext cx="9235440" cy="1645920"/>
          </a:xfrm>
          <a:prstGeom prst="rect">
            <a:avLst/>
          </a:prstGeom>
          <a:noFill/>
        </p:spPr>
        <p:txBody>
          <a:bodyPr wrap="square" lIns="45720" tIns="18288" rIns="45720" bIns="18288" anchor="t">
            <a:spAutoFit/>
          </a:bodyPr>
          <a:lstStyle/>
          <a:p>
            <a:pPr algn="ctr">
              <a:lnSpc>
                <a:spcPct val="125000"/>
              </a:lnSpc>
            </a:pPr>
            <a:r>
              <a:rPr sz="1700" b="0" i="0">
                <a:solidFill>
                  <a:srgbClr val="404040"/>
                </a:solidFill>
                <a:latin typeface="Segoe UI"/>
              </a:rPr>
              <a:t>Tương tác không tồn tại độc lập. Sức mạnh thực sự của trực quan hóa dữ liệu đến từ việc kết hợp linh hoạt các toán tử trên nhiều không gian khác nhau: 7 × 6 = 42 tổ hợp, mỗi tổ hợp tinh chỉnh bằng 4 tham số. Một hệ thống tối ưu không chỉ hiển thị dữ liệu mà còn trao quyền kiểm soát quy trình cho người dùng tại mọi điểm chạm.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8760" y="0"/>
            <a:ext cx="27432"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60320" y="2743200"/>
            <a:ext cx="9509760" cy="914400"/>
          </a:xfrm>
          <a:prstGeom prst="rect">
            <a:avLst/>
          </a:prstGeom>
          <a:noFill/>
        </p:spPr>
        <p:txBody>
          <a:bodyPr wrap="square" lIns="45720" tIns="18288" rIns="45720" bIns="18288" anchor="t">
            <a:spAutoFit/>
          </a:bodyPr>
          <a:lstStyle/>
          <a:p>
            <a:pPr algn="l">
              <a:lnSpc>
                <a:spcPct val="110000"/>
              </a:lnSpc>
            </a:pPr>
            <a:r>
              <a:rPr sz="3400" b="1" i="0">
                <a:solidFill>
                  <a:srgbClr val="404040"/>
                </a:solidFill>
                <a:latin typeface="Segoe UI"/>
              </a:rPr>
              <a:t>CẢM ƠN MỌI NGƯỜI ĐÃ LẮNG NGHE</a:t>
            </a:r>
          </a:p>
        </p:txBody>
      </p:sp>
      <p:sp>
        <p:nvSpPr>
          <p:cNvPr id="4" name="TextBox 3"/>
          <p:cNvSpPr txBox="1"/>
          <p:nvPr/>
        </p:nvSpPr>
        <p:spPr>
          <a:xfrm>
            <a:off x="2560320" y="3749039"/>
            <a:ext cx="9144000" cy="548640"/>
          </a:xfrm>
          <a:prstGeom prst="rect">
            <a:avLst/>
          </a:prstGeom>
          <a:noFill/>
        </p:spPr>
        <p:txBody>
          <a:bodyPr wrap="square" lIns="45720" tIns="18288" rIns="45720" bIns="18288" anchor="t">
            <a:spAutoFit/>
          </a:bodyPr>
          <a:lstStyle/>
          <a:p>
            <a:pPr algn="l">
              <a:lnSpc>
                <a:spcPct val="110000"/>
              </a:lnSpc>
            </a:pPr>
            <a:r>
              <a:rPr sz="1800" b="0" i="0">
                <a:solidFill>
                  <a:srgbClr val="8A8A8A"/>
                </a:solidFill>
                <a:latin typeface="Segoe UI"/>
              </a:rPr>
              <a:t>Nhóm 18 – Chương 11: Các khái niệm tương tác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2056</Words>
  <Application>Microsoft Office PowerPoint</Application>
  <PresentationFormat>Widescreen</PresentationFormat>
  <Paragraphs>201</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Nitro</cp:lastModifiedBy>
  <cp:revision>5</cp:revision>
  <dcterms:created xsi:type="dcterms:W3CDTF">2013-01-27T09:14:16Z</dcterms:created>
  <dcterms:modified xsi:type="dcterms:W3CDTF">2026-10-08T02:22:25Z</dcterms:modified>
  <cp:category/>
</cp:coreProperties>
</file>